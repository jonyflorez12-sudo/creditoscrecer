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Toneladas</c:v>
                </c:pt>
              </c:strCache>
            </c:strRef>
          </c:tx>
          <c:spPr>
            <a:solidFill>
              <a:srgbClr val="E08E3E"/>
            </a:solidFill>
            <a:ln>
              <a:noFill/>
            </a:ln>
          </c:spPr>
          <c:cat>
            <c:strRef>
              <c:f>Sheet1!$A$2:$A$14</c:f>
              <c:strCache>
                <c:ptCount val="13"/>
                <c:pt idx="0">
                  <c:v>ago-25</c:v>
                </c:pt>
                <c:pt idx="1">
                  <c:v>sep-25</c:v>
                </c:pt>
                <c:pt idx="2">
                  <c:v>oct-25</c:v>
                </c:pt>
                <c:pt idx="3">
                  <c:v>nov-25</c:v>
                </c:pt>
                <c:pt idx="4">
                  <c:v>dic-25</c:v>
                </c:pt>
                <c:pt idx="5">
                  <c:v>ene-26</c:v>
                </c:pt>
                <c:pt idx="6">
                  <c:v>feb-26</c:v>
                </c:pt>
                <c:pt idx="7">
                  <c:v>mar-26</c:v>
                </c:pt>
                <c:pt idx="8">
                  <c:v>abr-26</c:v>
                </c:pt>
                <c:pt idx="9">
                  <c:v>may-26</c:v>
                </c:pt>
                <c:pt idx="10">
                  <c:v>jun-26</c:v>
                </c:pt>
                <c:pt idx="11">
                  <c:v>jul-26</c:v>
                </c:pt>
                <c:pt idx="12">
                  <c:v>ago-26*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92384</c:v>
                </c:pt>
                <c:pt idx="1">
                  <c:v>133357</c:v>
                </c:pt>
                <c:pt idx="2">
                  <c:v>104904</c:v>
                </c:pt>
                <c:pt idx="3">
                  <c:v>100819</c:v>
                </c:pt>
                <c:pt idx="4">
                  <c:v>116290</c:v>
                </c:pt>
                <c:pt idx="5">
                  <c:v>115491</c:v>
                </c:pt>
                <c:pt idx="6">
                  <c:v>121996</c:v>
                </c:pt>
                <c:pt idx="7">
                  <c:v>179848</c:v>
                </c:pt>
                <c:pt idx="8">
                  <c:v>179507</c:v>
                </c:pt>
                <c:pt idx="9">
                  <c:v>87861</c:v>
                </c:pt>
                <c:pt idx="10">
                  <c:v>68442</c:v>
                </c:pt>
                <c:pt idx="11">
                  <c:v>96869</c:v>
                </c:pt>
                <c:pt idx="12">
                  <c:v>25896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0E5"/>
            </a:solidFill>
          </a:ln>
        </c:spPr>
        <c:txPr>
          <a:bodyPr/>
          <a:lstStyle/>
          <a:p>
            <a:pPr>
              <a:defRPr sz="1050">
                <a:solidFill>
                  <a:srgbClr val="5B657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E0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5B657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Toneladas</c:v>
                </c:pt>
              </c:strCache>
            </c:strRef>
          </c:tx>
          <c:spPr>
            <a:solidFill>
              <a:srgbClr val="4A5568"/>
            </a:solidFill>
            <a:ln>
              <a:noFill/>
            </a:ln>
          </c:spPr>
          <c:dPt>
            <c:idx val="0"/>
            <c:spPr>
              <a:solidFill>
                <a:srgbClr val="E08E3E"/>
              </a:solidFill>
            </c:spPr>
          </c:dPt>
          <c:cat>
            <c:strRef>
              <c:f>Sheet1!$A$2:$A$3</c:f>
              <c:strCache>
                <c:ptCount val="2"/>
                <c:pt idx="0">
                  <c:v>México / La Dorada</c:v>
                </c:pt>
                <c:pt idx="1">
                  <c:v>Buturamá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308224</c:v>
                </c:pt>
                <c:pt idx="1">
                  <c:v>1100698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20242C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0E5"/>
            </a:solidFill>
          </a:ln>
        </c:spPr>
        <c:txPr>
          <a:bodyPr/>
          <a:lstStyle/>
          <a:p>
            <a:pPr>
              <a:defRPr sz="1200">
                <a:solidFill>
                  <a:srgbClr val="20242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DDE0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5B657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Toneladas</c:v>
                </c:pt>
              </c:strCache>
            </c:strRef>
          </c:tx>
          <c:spPr>
            <a:solidFill>
              <a:srgbClr val="4A5568"/>
            </a:solidFill>
            <a:ln>
              <a:noFill/>
            </a:ln>
          </c:spPr>
          <c:dPt>
            <c:idx val="5"/>
            <c:spPr>
              <a:solidFill>
                <a:srgbClr val="E08E3E"/>
              </a:solidFill>
            </c:spPr>
          </c:dPt>
          <c:cat>
            <c:strRef>
              <c:f>Sheet1!$A$2:$A$7</c:f>
              <c:strCache>
                <c:ptCount val="6"/>
                <c:pt idx="0">
                  <c:v>Carbomax</c:v>
                </c:pt>
                <c:pt idx="1">
                  <c:v>Prodeco</c:v>
                </c:pt>
                <c:pt idx="2">
                  <c:v>Camco</c:v>
                </c:pt>
                <c:pt idx="3">
                  <c:v>Flame/Colombia</c:v>
                </c:pt>
                <c:pt idx="4">
                  <c:v>Bulktrading</c:v>
                </c:pt>
                <c:pt idx="5">
                  <c:v>Minex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85770</c:v>
                </c:pt>
                <c:pt idx="1">
                  <c:v>97730</c:v>
                </c:pt>
                <c:pt idx="2">
                  <c:v>128664</c:v>
                </c:pt>
                <c:pt idx="3">
                  <c:v>129428</c:v>
                </c:pt>
                <c:pt idx="4">
                  <c:v>173502</c:v>
                </c:pt>
                <c:pt idx="5">
                  <c:v>791725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20242C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0E5"/>
            </a:solidFill>
          </a:ln>
        </c:spPr>
        <c:txPr>
          <a:bodyPr/>
          <a:lstStyle/>
          <a:p>
            <a:pPr>
              <a:defRPr sz="1100">
                <a:solidFill>
                  <a:srgbClr val="20242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DDE0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5B657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Servicios</c:v>
                </c:pt>
              </c:strCache>
            </c:strRef>
          </c:tx>
          <c:spPr>
            <a:solidFill>
              <a:srgbClr val="4A5568"/>
            </a:solidFill>
            <a:ln>
              <a:noFill/>
            </a:ln>
          </c:spPr>
          <c:dPt>
            <c:idx val="2"/>
            <c:spPr>
              <a:solidFill>
                <a:srgbClr val="E08E3E"/>
              </a:solidFill>
            </c:spPr>
          </c:dPt>
          <c:dPt>
            <c:idx val="4"/>
            <c:spPr>
              <a:solidFill>
                <a:srgbClr val="A8672A"/>
              </a:solidFill>
            </c:spPr>
          </c:dPt>
          <c:cat>
            <c:strRef>
              <c:f>Sheet1!$A$2:$A$6</c:f>
              <c:strCache>
                <c:ptCount val="5"/>
                <c:pt idx="0">
                  <c:v>&lt; 60</c:v>
                </c:pt>
                <c:pt idx="1">
                  <c:v>60–99</c:v>
                </c:pt>
                <c:pt idx="2">
                  <c:v>100–119</c:v>
                </c:pt>
                <c:pt idx="3">
                  <c:v>120–149</c:v>
                </c:pt>
                <c:pt idx="4">
                  <c:v>150+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</c:v>
                </c:pt>
                <c:pt idx="1">
                  <c:v>32</c:v>
                </c:pt>
                <c:pt idx="2">
                  <c:v>440</c:v>
                </c:pt>
                <c:pt idx="3">
                  <c:v>56</c:v>
                </c:pt>
                <c:pt idx="4">
                  <c:v>75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20242C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0E5"/>
            </a:solidFill>
          </a:ln>
        </c:spPr>
        <c:txPr>
          <a:bodyPr/>
          <a:lstStyle/>
          <a:p>
            <a:pPr>
              <a:defRPr sz="1150">
                <a:solidFill>
                  <a:srgbClr val="20242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E0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B657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892040"/>
            <a:ext cx="12191695" cy="0"/>
          </a:xfrm>
          <a:prstGeom prst="line">
            <a:avLst/>
          </a:prstGeom>
          <a:ln w="15875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5001768"/>
            <a:ext cx="12191695" cy="0"/>
          </a:xfrm>
          <a:prstGeom prst="line">
            <a:avLst/>
          </a:prstGeom>
          <a:ln w="15875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07008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91056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75104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59152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127248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511296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95344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79392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63440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47488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31536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815583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99631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83679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67727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51775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35823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119871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03919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87967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72015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656063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040111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424159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08207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192255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576303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960351" y="4800600"/>
            <a:ext cx="0" cy="292607"/>
          </a:xfrm>
          <a:prstGeom prst="line">
            <a:avLst/>
          </a:prstGeom>
          <a:ln w="12700">
            <a:solidFill>
              <a:srgbClr val="333B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508760" y="4846320"/>
            <a:ext cx="91440" cy="91440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480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Calibri"/>
              </a:rPr>
              <a:t>PK202+000</a:t>
            </a:r>
          </a:p>
        </p:txBody>
      </p:sp>
      <p:sp>
        <p:nvSpPr>
          <p:cNvPr id="37" name="Oval 36"/>
          <p:cNvSpPr/>
          <p:nvPr/>
        </p:nvSpPr>
        <p:spPr>
          <a:xfrm>
            <a:off x="5989320" y="4846320"/>
            <a:ext cx="91440" cy="91440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59" y="51480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Calibri"/>
              </a:rPr>
              <a:t>PK593+750</a:t>
            </a:r>
          </a:p>
        </p:txBody>
      </p:sp>
      <p:sp>
        <p:nvSpPr>
          <p:cNvPr id="39" name="Oval 38"/>
          <p:cNvSpPr/>
          <p:nvPr/>
        </p:nvSpPr>
        <p:spPr>
          <a:xfrm>
            <a:off x="10561319" y="4846320"/>
            <a:ext cx="91440" cy="91440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0" y="51480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Calibri"/>
              </a:rPr>
              <a:t>PK722+683</a:t>
            </a:r>
          </a:p>
        </p:txBody>
      </p:sp>
      <p:sp>
        <p:nvSpPr>
          <p:cNvPr id="41" name="Oval 40"/>
          <p:cNvSpPr/>
          <p:nvPr/>
        </p:nvSpPr>
        <p:spPr>
          <a:xfrm>
            <a:off x="950976" y="859536"/>
            <a:ext cx="566928" cy="566928"/>
          </a:xfrm>
          <a:prstGeom prst="ellipse">
            <a:avLst/>
          </a:prstGeom>
          <a:noFill/>
          <a:ln w="20320">
            <a:solidFill>
              <a:srgbClr val="E0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87038" y="1057960"/>
            <a:ext cx="294802" cy="136062"/>
          </a:xfrm>
          <a:prstGeom prst="roundRect">
            <a:avLst>
              <a:gd name="adj" fmla="val 25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5385" y="1194023"/>
            <a:ext cx="51023" cy="51023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02471" y="1194023"/>
            <a:ext cx="51023" cy="51023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1691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8E3E"/>
                </a:solidFill>
                <a:latin typeface="Calibri"/>
              </a:rPr>
              <a:t>OPERACIÓN FERROVIARIA · CARBÓN AL GRANEL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DEFF2"/>
                </a:solidFill>
                <a:latin typeface="Cambria"/>
              </a:rPr>
              <a:t>Dos frentes de cargue,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DEFF2"/>
                </a:solidFill>
                <a:latin typeface="Cambria"/>
              </a:rPr>
              <a:t>un mismo patio de destino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370332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8A96A3"/>
                </a:solidFill>
                <a:latin typeface="Calibri"/>
              </a:rPr>
              <a:t>México/La Dorada y Buturamá convergen en el patio de Chiriguaná (PK722+683)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4B2"/>
                </a:solidFill>
                <a:latin typeface="Calibri"/>
              </a:rPr>
              <a:t>Concesión Línea Férrea Central  ·  Agosto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4B2"/>
                </a:solidFill>
                <a:latin typeface="Calibri"/>
              </a:rPr>
              <a:t>Fuente: Listado_Temporal — registro de programación de servicios de carga, ago. 2025–ago.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0242C"/>
                </a:solidFill>
                <a:latin typeface="Cambria"/>
              </a:rPr>
              <a:t>Dos frentes de cargue convergen en Chiriguaná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572"/>
                </a:solidFill>
                <a:latin typeface="Calibri"/>
              </a:rPr>
              <a:t>El carbón entra al corredor por dos puntos distintos; Chiriguaná es el patio único de consolidación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88720" y="2468880"/>
            <a:ext cx="9784080" cy="502920"/>
          </a:xfrm>
          <a:prstGeom prst="line">
            <a:avLst/>
          </a:prstGeom>
          <a:ln w="38100">
            <a:solidFill>
              <a:srgbClr val="E08E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263640" y="2971800"/>
            <a:ext cx="4709160" cy="502920"/>
          </a:xfrm>
          <a:prstGeom prst="line">
            <a:avLst/>
          </a:prstGeom>
          <a:ln w="381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368296"/>
            <a:ext cx="201168" cy="201168"/>
          </a:xfrm>
          <a:prstGeom prst="ellipse">
            <a:avLst/>
          </a:prstGeom>
          <a:solidFill>
            <a:srgbClr val="E08E3E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63055" y="3374136"/>
            <a:ext cx="201168" cy="201168"/>
          </a:xfrm>
          <a:prstGeom prst="ellipse">
            <a:avLst/>
          </a:prstGeom>
          <a:solidFill>
            <a:srgbClr val="4A5568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72216" y="2871216"/>
            <a:ext cx="201168" cy="201168"/>
          </a:xfrm>
          <a:prstGeom prst="ellipse">
            <a:avLst/>
          </a:prstGeom>
          <a:solidFill>
            <a:srgbClr val="E08E3E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481328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8E3E"/>
                </a:solidFill>
                <a:latin typeface="Calibri"/>
              </a:rPr>
              <a:t>PK202+000 / PK207+000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37360"/>
            <a:ext cx="30175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0242C"/>
                </a:solidFill>
                <a:latin typeface="Cambria"/>
              </a:rPr>
              <a:t>México / La Dorada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0482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572"/>
                </a:solidFill>
                <a:latin typeface="Calibri"/>
              </a:rPr>
              <a:t>Frente 1 — circuito local de cargue + corredor 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70332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4A5568"/>
                </a:solidFill>
                <a:latin typeface="Calibri"/>
              </a:rPr>
              <a:t>PK593+750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968496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0242C"/>
                </a:solidFill>
                <a:latin typeface="Cambria"/>
              </a:rPr>
              <a:t>Buturamá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4297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572"/>
                </a:solidFill>
                <a:latin typeface="Calibri"/>
              </a:rPr>
              <a:t>Frente 2 — cargue independiente y continuo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78308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E08E3E"/>
                </a:solidFill>
                <a:latin typeface="Calibri"/>
              </a:rPr>
              <a:t>PK722+683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048256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20242C"/>
                </a:solidFill>
                <a:latin typeface="Cambria"/>
              </a:rPr>
              <a:t>Chiriguaná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3774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572"/>
                </a:solidFill>
                <a:latin typeface="Calibri"/>
              </a:rPr>
              <a:t>Patio único de consolidación de ambos frentes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17627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1">
                <a:solidFill>
                  <a:srgbClr val="E08E3E"/>
                </a:solidFill>
                <a:latin typeface="Calibri"/>
              </a:rPr>
              <a:t>≈ 392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4564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1">
                <a:solidFill>
                  <a:srgbClr val="4A5568"/>
                </a:solidFill>
                <a:latin typeface="Calibri"/>
              </a:rPr>
              <a:t>≈ 129 km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4983480"/>
            <a:ext cx="32461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4752" y="5166360"/>
            <a:ext cx="2734056" cy="5029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8E3E"/>
                </a:solidFill>
                <a:latin typeface="Cambria"/>
              </a:rPr>
              <a:t>97 viajes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5715000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572"/>
                </a:solidFill>
                <a:latin typeface="Calibri"/>
              </a:rPr>
              <a:t>México/La Dorada → Chiriguaná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572"/>
                </a:solidFill>
                <a:latin typeface="Calibri"/>
              </a:rPr>
              <a:t>308,224 t de carbón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4983480"/>
            <a:ext cx="32461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10912" y="5166360"/>
            <a:ext cx="2734056" cy="5029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8E3E"/>
                </a:solidFill>
                <a:latin typeface="Cambria"/>
              </a:rPr>
              <a:t>241 viajes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2" y="5715000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572"/>
                </a:solidFill>
                <a:latin typeface="Calibri"/>
              </a:rPr>
              <a:t>Buturamá → Chiriguaná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572"/>
                </a:solidFill>
                <a:latin typeface="Calibri"/>
              </a:rPr>
              <a:t>1,100,698 t de carbón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4983480"/>
            <a:ext cx="32461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77072" y="5166360"/>
            <a:ext cx="2734056" cy="5029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8E3E"/>
                </a:solidFill>
                <a:latin typeface="Cambria"/>
              </a:rPr>
              <a:t>~40 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5715000"/>
            <a:ext cx="2734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572"/>
                </a:solidFill>
                <a:latin typeface="Calibri"/>
              </a:rPr>
              <a:t>toneladas de carbón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572"/>
                </a:solidFill>
                <a:latin typeface="Calibri"/>
              </a:rPr>
              <a:t>por góndola (observado)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572"/>
                </a:solidFill>
                <a:latin typeface="Calibri"/>
              </a:rPr>
              <a:t>Estaciones, PK y toneladas tomados del Listado_Temporal, filtrando Tipo de producto = Carbón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5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C"/>
                </a:solidFill>
                <a:latin typeface="Cambria"/>
              </a:rPr>
              <a:t>Dos ciclos operan en paralelo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572"/>
                </a:solidFill>
                <a:latin typeface="Calibri"/>
              </a:rPr>
              <a:t>Cada frente carga y despacha de forma independiente; ambos entregan en el mismo patio de Chiriguaná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08E3E"/>
                </a:solidFill>
                <a:latin typeface="Cambria"/>
              </a:rPr>
              <a:t>Frente 1 · México / La Dorada</a:t>
            </a:r>
          </a:p>
        </p:txBody>
      </p:sp>
      <p:sp>
        <p:nvSpPr>
          <p:cNvPr id="6" name="Oval 5"/>
          <p:cNvSpPr/>
          <p:nvPr/>
        </p:nvSpPr>
        <p:spPr>
          <a:xfrm>
            <a:off x="731519" y="218541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19" y="2185416"/>
            <a:ext cx="457200" cy="457200"/>
          </a:xfrm>
          <a:prstGeom prst="ellipse">
            <a:avLst/>
          </a:prstGeom>
          <a:noFill/>
          <a:ln w="20320">
            <a:solidFill>
              <a:srgbClr val="E0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7" y="2345436"/>
            <a:ext cx="237744" cy="109728"/>
          </a:xfrm>
          <a:prstGeom prst="roundRect">
            <a:avLst>
              <a:gd name="adj" fmla="val 25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4107" y="2455164"/>
            <a:ext cx="41148" cy="41148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4983" y="2455164"/>
            <a:ext cx="41148" cy="41148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25880" y="2057400"/>
            <a:ext cx="44805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2139696"/>
            <a:ext cx="4160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42C"/>
                </a:solidFill>
                <a:latin typeface="Cambria"/>
              </a:rPr>
              <a:t>Acopio local PK202⇄PK207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95728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572"/>
                </a:solidFill>
                <a:latin typeface="Calibri"/>
              </a:rPr>
              <a:t>3 lotes de 50 góndolas vacías viajan a PK207, cargan y regresan en reversa al patio PK202.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88719" y="2779776"/>
            <a:ext cx="0" cy="45720"/>
          </a:xfrm>
          <a:prstGeom prst="line">
            <a:avLst/>
          </a:prstGeom>
          <a:ln w="19050">
            <a:solidFill>
              <a:srgbClr val="8A96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31519" y="296265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19" y="2962656"/>
            <a:ext cx="457200" cy="457200"/>
          </a:xfrm>
          <a:prstGeom prst="ellipse">
            <a:avLst/>
          </a:prstGeom>
          <a:noFill/>
          <a:ln w="20320">
            <a:solidFill>
              <a:srgbClr val="E0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3122676"/>
            <a:ext cx="237744" cy="109728"/>
          </a:xfrm>
          <a:prstGeom prst="roundRect">
            <a:avLst>
              <a:gd name="adj" fmla="val 25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4107" y="3232404"/>
            <a:ext cx="41148" cy="41148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3" y="3232404"/>
            <a:ext cx="41148" cy="41148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25880" y="2834640"/>
            <a:ext cx="44805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6192" y="2916936"/>
            <a:ext cx="4160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42C"/>
                </a:solidFill>
                <a:latin typeface="Cambria"/>
              </a:rPr>
              <a:t>Maniobras de patio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3172968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572"/>
                </a:solidFill>
                <a:latin typeface="Calibri"/>
              </a:rPr>
              <a:t>Al reunir 150 góndolas se consolida la formación y se engancha la locomotora de línea.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88719" y="3557015"/>
            <a:ext cx="0" cy="45721"/>
          </a:xfrm>
          <a:prstGeom prst="line">
            <a:avLst/>
          </a:prstGeom>
          <a:ln w="19050">
            <a:solidFill>
              <a:srgbClr val="8A96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31519" y="373989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19" y="3739896"/>
            <a:ext cx="457200" cy="457200"/>
          </a:xfrm>
          <a:prstGeom prst="ellipse">
            <a:avLst/>
          </a:prstGeom>
          <a:noFill/>
          <a:ln w="20320">
            <a:solidFill>
              <a:srgbClr val="E0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7" y="3899916"/>
            <a:ext cx="237744" cy="109728"/>
          </a:xfrm>
          <a:prstGeom prst="roundRect">
            <a:avLst>
              <a:gd name="adj" fmla="val 25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4107" y="4009644"/>
            <a:ext cx="41148" cy="41148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4983" y="4009644"/>
            <a:ext cx="41148" cy="41148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25880" y="3611880"/>
            <a:ext cx="44805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36192" y="3694176"/>
            <a:ext cx="4160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42C"/>
                </a:solidFill>
                <a:latin typeface="Cambria"/>
              </a:rPr>
              <a:t>Despacho por corredor principal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3950208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572"/>
                </a:solidFill>
                <a:latin typeface="Calibri"/>
              </a:rPr>
              <a:t>El tren sale hacia el patio de Chiriguaná (PK722+683), ≈392 km.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600200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4A5568"/>
                </a:solidFill>
                <a:latin typeface="Cambria"/>
              </a:rPr>
              <a:t>Frente 2 · Buturamá</a:t>
            </a:r>
          </a:p>
        </p:txBody>
      </p:sp>
      <p:sp>
        <p:nvSpPr>
          <p:cNvPr id="33" name="Oval 32"/>
          <p:cNvSpPr/>
          <p:nvPr/>
        </p:nvSpPr>
        <p:spPr>
          <a:xfrm>
            <a:off x="6446520" y="218541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46520" y="2185416"/>
            <a:ext cx="457200" cy="457200"/>
          </a:xfrm>
          <a:prstGeom prst="ellipse">
            <a:avLst/>
          </a:prstGeom>
          <a:noFill/>
          <a:ln w="2032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56248" y="2345436"/>
            <a:ext cx="237744" cy="109728"/>
          </a:xfrm>
          <a:prstGeom prst="roundRect">
            <a:avLst>
              <a:gd name="adj" fmla="val 25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79108" y="2455164"/>
            <a:ext cx="41148" cy="41148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729983" y="2455164"/>
            <a:ext cx="41148" cy="41148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40880" y="2057400"/>
            <a:ext cx="44805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51192" y="2139696"/>
            <a:ext cx="4160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42C"/>
                </a:solidFill>
                <a:latin typeface="Cambria"/>
              </a:rPr>
              <a:t>Salida vacía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2395728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572"/>
                </a:solidFill>
                <a:latin typeface="Calibri"/>
              </a:rPr>
              <a:t>Góndolas vacías salen de Chiriguaná hacia Buturamá (PK593+750), ≈129 km.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903720" y="2779776"/>
            <a:ext cx="0" cy="45720"/>
          </a:xfrm>
          <a:prstGeom prst="line">
            <a:avLst/>
          </a:prstGeom>
          <a:ln w="19050">
            <a:solidFill>
              <a:srgbClr val="8A96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446520" y="296265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46520" y="2962656"/>
            <a:ext cx="457200" cy="457200"/>
          </a:xfrm>
          <a:prstGeom prst="ellipse">
            <a:avLst/>
          </a:prstGeom>
          <a:noFill/>
          <a:ln w="2032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56248" y="3122676"/>
            <a:ext cx="237744" cy="109728"/>
          </a:xfrm>
          <a:prstGeom prst="roundRect">
            <a:avLst>
              <a:gd name="adj" fmla="val 25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579108" y="3232404"/>
            <a:ext cx="41148" cy="41148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29983" y="3232404"/>
            <a:ext cx="41148" cy="41148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40880" y="2834640"/>
            <a:ext cx="44805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51192" y="2916936"/>
            <a:ext cx="4160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42C"/>
                </a:solidFill>
                <a:latin typeface="Cambria"/>
              </a:rPr>
              <a:t>Cargue en Buturamá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51192" y="3172968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572"/>
                </a:solidFill>
                <a:latin typeface="Calibri"/>
              </a:rPr>
              <a:t>Se cargan de carbón al granel — en promedio 113 góndolas por formación.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903720" y="3557015"/>
            <a:ext cx="0" cy="45721"/>
          </a:xfrm>
          <a:prstGeom prst="line">
            <a:avLst/>
          </a:prstGeom>
          <a:ln w="19050">
            <a:solidFill>
              <a:srgbClr val="8A96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446520" y="373989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46520" y="3739896"/>
            <a:ext cx="457200" cy="457200"/>
          </a:xfrm>
          <a:prstGeom prst="ellipse">
            <a:avLst/>
          </a:prstGeom>
          <a:noFill/>
          <a:ln w="2032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56248" y="3899916"/>
            <a:ext cx="237744" cy="109728"/>
          </a:xfrm>
          <a:prstGeom prst="roundRect">
            <a:avLst>
              <a:gd name="adj" fmla="val 25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79108" y="4009644"/>
            <a:ext cx="41148" cy="41148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729983" y="4009644"/>
            <a:ext cx="41148" cy="41148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040880" y="3611880"/>
            <a:ext cx="44805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51192" y="3694176"/>
            <a:ext cx="4160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42C"/>
                </a:solidFill>
                <a:latin typeface="Cambria"/>
              </a:rPr>
              <a:t>Regreso cargado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51192" y="3950208"/>
            <a:ext cx="4160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572"/>
                </a:solidFill>
                <a:latin typeface="Calibri"/>
              </a:rPr>
              <a:t>La formación cargada vuelve directo a Chiriguaná; el ciclo se repite de forma continua.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5623560"/>
            <a:ext cx="10881360" cy="566928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5623560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EDEFF2"/>
                </a:solidFill>
                <a:latin typeface="Calibri"/>
              </a:rPr>
              <a:t>Ambos frentes entregan en el patio de Chiriguaná — 97 viajes desde México/La Dorada y 241 desde Buturamá en el periodo analizado.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5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DEFF2"/>
                </a:solidFill>
                <a:latin typeface="Cambria"/>
              </a:rPr>
              <a:t>La operación en cifras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AA4B2"/>
                </a:solidFill>
                <a:latin typeface="Calibri"/>
              </a:rPr>
              <a:t>Agosto 2025 – agosto 2026 · Listado_Temporal, servicios de carga de carbón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3520440" cy="1600200"/>
          </a:xfrm>
          <a:prstGeom prst="rect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297180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08E3E"/>
                </a:solidFill>
                <a:latin typeface="Cambria"/>
              </a:rPr>
              <a:t>1.42 M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39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4B2"/>
                </a:solidFill>
                <a:latin typeface="Calibri"/>
              </a:rPr>
              <a:t>toneladas de carbón transportadas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737360"/>
            <a:ext cx="3520440" cy="1600200"/>
          </a:xfrm>
          <a:prstGeom prst="rect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38528"/>
            <a:ext cx="297180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08E3E"/>
                </a:solidFill>
                <a:latin typeface="Cambria"/>
              </a:rPr>
              <a:t>344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834639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4B2"/>
                </a:solidFill>
                <a:latin typeface="Calibri"/>
              </a:rPr>
              <a:t>viajes cargados registrados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520440" cy="1600200"/>
          </a:xfrm>
          <a:prstGeom prst="rect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38528"/>
            <a:ext cx="297180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08E3E"/>
                </a:solidFill>
                <a:latin typeface="Cambria"/>
              </a:rPr>
              <a:t>4,139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39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4B2"/>
                </a:solidFill>
                <a:latin typeface="Calibri"/>
              </a:rPr>
              <a:t>promedio de carga por viaje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20440"/>
            <a:ext cx="3520440" cy="1600200"/>
          </a:xfrm>
          <a:prstGeom prst="rect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21608"/>
            <a:ext cx="297180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08E3E"/>
                </a:solidFill>
                <a:latin typeface="Cambria"/>
              </a:rPr>
              <a:t>717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1772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4B2"/>
                </a:solidFill>
                <a:latin typeface="Calibri"/>
              </a:rPr>
              <a:t>servicios totales programados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520440"/>
            <a:ext cx="3520440" cy="1600200"/>
          </a:xfrm>
          <a:prstGeom prst="rect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721608"/>
            <a:ext cx="297180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08E3E"/>
                </a:solidFill>
                <a:latin typeface="Cambria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61772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4B2"/>
                </a:solidFill>
                <a:latin typeface="Calibri"/>
              </a:rPr>
              <a:t>empresas exportadoras activas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520440"/>
            <a:ext cx="3520440" cy="1600200"/>
          </a:xfrm>
          <a:prstGeom prst="rect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721608"/>
            <a:ext cx="2971800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08E3E"/>
                </a:solidFill>
                <a:latin typeface="Cambria"/>
              </a:rPr>
              <a:t>≥100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61772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4B2"/>
                </a:solidFill>
                <a:latin typeface="Calibri"/>
              </a:rPr>
              <a:t>góndolas en 6 de cada 10 formaciones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9AA4B2"/>
                </a:solidFill>
                <a:latin typeface="Calibri"/>
              </a:rPr>
              <a:t>El 61 % de las formaciones registradas moviliza 100 góndolas o más, y 1 de cada 10 alcanza</a:t>
            </a:r>
          </a:p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9AA4B2"/>
                </a:solidFill>
                <a:latin typeface="Calibri"/>
              </a:rPr>
              <a:t>el máximo operativo de 150 góndolas.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4B2"/>
                </a:solidFill>
                <a:latin typeface="Calibri"/>
              </a:rPr>
              <a:t>716 de 717 registros están en estado "Programado" — el listado refleja la programación de servicios, no únicamente lo ejecutado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4B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C"/>
                </a:solidFill>
                <a:latin typeface="Cambria"/>
              </a:rPr>
              <a:t>Tonelaje mensual transportado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572"/>
                </a:solidFill>
                <a:latin typeface="Calibri"/>
              </a:rPr>
              <a:t>Toneladas de carbón despachadas por mes de inicio de viaje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108813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966960" y="16459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5B6572"/>
                </a:solidFill>
                <a:latin typeface="Calibri"/>
              </a:rPr>
              <a:t>* parcial (1–11 ago.)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572"/>
                </a:solidFill>
                <a:latin typeface="Calibri"/>
              </a:rPr>
              <a:t>Pico en marzo–abril 2026 (≈180,000 t/mes); julio–agosto muestran desaceleración estacional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5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C"/>
                </a:solidFill>
                <a:latin typeface="Cambria"/>
              </a:rPr>
              <a:t>¿Quién carga por cuál frente?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572"/>
                </a:solidFill>
                <a:latin typeface="Calibri"/>
              </a:rPr>
              <a:t>Toneladas de carbón por frente de cargue y por empresa, agosto 2025 – agosto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45920"/>
          <a:ext cx="534924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65760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5B6572"/>
                </a:solidFill>
                <a:latin typeface="Calibri"/>
              </a:rPr>
              <a:t>Toneladas por frente de cargue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42C"/>
                </a:solidFill>
                <a:latin typeface="Cambria"/>
              </a:rPr>
              <a:t>Empresa dominante por frente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453128"/>
            <a:ext cx="5349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0242C"/>
                </a:solidFill>
                <a:latin typeface="Calibri"/>
              </a:rPr>
              <a:t>México / La Dorada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4526280"/>
            <a:ext cx="3063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572"/>
                </a:solidFill>
                <a:latin typeface="Calibri"/>
              </a:rPr>
              <a:t>Camco (44) · Flame/Colombia (35)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983480"/>
            <a:ext cx="5349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56632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0242C"/>
                </a:solidFill>
                <a:latin typeface="Calibri"/>
              </a:rPr>
              <a:t>Buturamá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5056632"/>
            <a:ext cx="3063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572"/>
                </a:solidFill>
                <a:latin typeface="Calibri"/>
              </a:rPr>
              <a:t>Minex (172 de 241 viajes, 71 %)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355080" y="1645920"/>
          <a:ext cx="5166360" cy="4434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355080" y="6126480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5B6572"/>
                </a:solidFill>
                <a:latin typeface="Calibri"/>
              </a:rPr>
              <a:t>Toneladas por empresa (ambos frentes combinados)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572"/>
                </a:solidFill>
                <a:latin typeface="Calibri"/>
              </a:rPr>
              <a:t>Clasificación de producto: 100 % Carbón · Tipo de carga: Carbón al granel · Exportación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5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C"/>
                </a:solidFill>
                <a:latin typeface="Cambria"/>
              </a:rPr>
              <a:t>Tamaño de formación y flota de tracción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572"/>
                </a:solidFill>
                <a:latin typeface="Calibri"/>
              </a:rPr>
              <a:t>Góndolas por servicio programado y locomotoras C21 asignadas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91640"/>
          <a:ext cx="63093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0644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5B6572"/>
                </a:solidFill>
                <a:latin typeface="Calibri"/>
              </a:rPr>
              <a:t>Góndolas por servicio (n.º de servicios programados)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691640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42C"/>
                </a:solidFill>
                <a:latin typeface="Cambria"/>
              </a:rPr>
              <a:t>Locomotoras C21 asignadas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2121408"/>
            <a:ext cx="4297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2185415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42C"/>
                </a:solidFill>
                <a:latin typeface="Calibri"/>
              </a:rPr>
              <a:t>2-C21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286000"/>
            <a:ext cx="2834640" cy="146304"/>
          </a:xfrm>
          <a:prstGeom prst="rect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19" y="2185415"/>
            <a:ext cx="777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2"/>
                </a:solidFill>
                <a:latin typeface="Calibri"/>
              </a:rPr>
              <a:t>533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2670048"/>
            <a:ext cx="4297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734056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42C"/>
                </a:solidFill>
                <a:latin typeface="Calibri"/>
              </a:rPr>
              <a:t>3-C21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834640"/>
            <a:ext cx="728603" cy="146304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19" y="2734056"/>
            <a:ext cx="777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2"/>
                </a:solidFill>
                <a:latin typeface="Calibri"/>
              </a:rPr>
              <a:t>137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3218687"/>
            <a:ext cx="4297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282695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42C"/>
                </a:solidFill>
                <a:latin typeface="Calibri"/>
              </a:rPr>
              <a:t>1-C21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383279"/>
            <a:ext cx="218049" cy="146304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19" y="3282695"/>
            <a:ext cx="777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2"/>
                </a:solidFill>
                <a:latin typeface="Calibri"/>
              </a:rPr>
              <a:t>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3767327"/>
            <a:ext cx="4297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831335"/>
            <a:ext cx="822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42C"/>
                </a:solidFill>
                <a:latin typeface="Calibri"/>
              </a:rPr>
              <a:t>4-C21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931919"/>
            <a:ext cx="31909" cy="146304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19" y="3831335"/>
            <a:ext cx="777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2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443984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42C"/>
                </a:solidFill>
                <a:latin typeface="Cambria"/>
              </a:rPr>
              <a:t>Rutas principales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4846320"/>
            <a:ext cx="4297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4901183"/>
            <a:ext cx="3291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0242C"/>
                </a:solidFill>
                <a:latin typeface="Calibri"/>
              </a:rPr>
              <a:t>Chiriguaná ⇄ Buturama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4901183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E08E3E"/>
                </a:solidFill>
                <a:latin typeface="Calibri"/>
              </a:rPr>
              <a:t>483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5303520"/>
            <a:ext cx="4297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5358383"/>
            <a:ext cx="3291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0242C"/>
                </a:solidFill>
                <a:latin typeface="Calibri"/>
              </a:rPr>
              <a:t>México ⇄ Chiriguaná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5358383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E08E3E"/>
                </a:solidFill>
                <a:latin typeface="Calibri"/>
              </a:rPr>
              <a:t>178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5760720"/>
            <a:ext cx="42976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5815583"/>
            <a:ext cx="3291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0242C"/>
                </a:solidFill>
                <a:latin typeface="Calibri"/>
              </a:rPr>
              <a:t>Otras (Y Capulco, La Dorada…)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5815583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E08E3E"/>
                </a:solidFill>
                <a:latin typeface="Calibri"/>
              </a:rPr>
              <a:t>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572"/>
                </a:solidFill>
                <a:latin typeface="Calibri"/>
              </a:rPr>
              <a:t>El 61 % de los servicios moviliza 100 góndolas o más; la locomotora 2-C21 opera el 74 % de los servicios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5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DEFF2"/>
                </a:solidFill>
                <a:latin typeface="Cambria"/>
              </a:rPr>
              <a:t>Simulación interactiva: tres pistas, dos frentes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AA4B2"/>
                </a:solidFill>
                <a:latin typeface="Calibri"/>
              </a:rPr>
              <a:t>El circuito Buturamá arranca solo al abrir la página; el circuito PK202/PK207 se controla con botones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3977639"/>
          </a:xfrm>
          <a:prstGeom prst="rect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188720" y="2468880"/>
            <a:ext cx="8869680" cy="0"/>
          </a:xfrm>
          <a:prstGeom prst="line">
            <a:avLst/>
          </a:prstGeom>
          <a:ln w="2794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15568" y="2395728"/>
            <a:ext cx="146304" cy="146304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85248" y="2395728"/>
            <a:ext cx="146304" cy="146304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019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Calibri"/>
              </a:rPr>
              <a:t>Patio PK202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9019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Calibri"/>
              </a:rPr>
              <a:t>Punto de cargue PK207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377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68880" y="2377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377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2377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0" y="2377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2377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0" y="2377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2080" y="2377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2670048"/>
            <a:ext cx="886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9AA4B2"/>
                </a:solidFill>
                <a:latin typeface="Calibri"/>
              </a:rPr>
              <a:t>Frente 1a — 3 lotes × 50 góndolas se acopian en el patio PK202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88720" y="3611880"/>
            <a:ext cx="8869680" cy="0"/>
          </a:xfrm>
          <a:prstGeom prst="line">
            <a:avLst/>
          </a:prstGeom>
          <a:ln w="2794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115568" y="3538728"/>
            <a:ext cx="146304" cy="146304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85248" y="3538728"/>
            <a:ext cx="146304" cy="146304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0449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Calibri"/>
              </a:rPr>
              <a:t>Patio PK202 (150 cargadas)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0449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Calibri"/>
              </a:rPr>
              <a:t>Patio Chiriguaná PK722+683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0" y="3520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68880" y="3520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26080" y="3520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83280" y="3520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40480" y="3520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97680" y="3520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54880" y="3520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212080" y="3520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80" y="3520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26480" y="3520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83680" y="3520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40880" y="3520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3813048"/>
            <a:ext cx="886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9AA4B2"/>
                </a:solidFill>
                <a:latin typeface="Calibri"/>
              </a:rPr>
              <a:t>Frente 1b — despacho consolidado de 150 góndolas por el corredor principal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88720" y="4754880"/>
            <a:ext cx="8869680" cy="0"/>
          </a:xfrm>
          <a:prstGeom prst="line">
            <a:avLst/>
          </a:prstGeom>
          <a:ln w="2794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115568" y="4681728"/>
            <a:ext cx="146304" cy="146304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85248" y="4681728"/>
            <a:ext cx="146304" cy="146304"/>
          </a:xfrm>
          <a:prstGeom prst="ellipse">
            <a:avLst/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41879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Calibri"/>
              </a:rPr>
              <a:t>Cargue Buturamá PK593+750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41879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4B2"/>
                </a:solidFill>
                <a:latin typeface="Calibri"/>
              </a:rPr>
              <a:t>Patio Chiriguaná PK722+683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11680" y="4663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6F9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468880" y="4663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926080" y="4663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6F9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383280" y="4663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840480" y="4663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6F9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297680" y="4663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754880" y="4663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6F9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212080" y="4663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669280" y="4663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6F9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126480" y="4663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83680" y="4663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6F9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040880" y="4663440"/>
            <a:ext cx="402336" cy="182880"/>
          </a:xfrm>
          <a:prstGeom prst="roundRect">
            <a:avLst>
              <a:gd name="adj" fmla="val 3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88720" y="4956048"/>
            <a:ext cx="886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9AA4B2"/>
                </a:solidFill>
                <a:latin typeface="Calibri"/>
              </a:rPr>
              <a:t>Frente 2 — circuito automático, ~113 góndolas por viaje, entrega directa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76072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4B2"/>
                </a:solidFill>
                <a:latin typeface="Calibri"/>
              </a:rPr>
              <a:t>Versión interactiva (animada, arranque automático, bitácora de eventos):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053328"/>
            <a:ext cx="10881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8E3E"/>
                </a:solidFill>
                <a:latin typeface="Calibri"/>
              </a:rPr>
              <a:t>https://claude.ai/code/artifact/c740678c-37fa-476e-8c26-fbb08867247b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4B2"/>
                </a:solidFill>
                <a:latin typeface="Calibri"/>
              </a:rPr>
              <a:t>Simulación esquemática — parámetros de tiempo ilustrativos; tamaños de formación tomados del promedio real por frente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4B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DEFF2"/>
                </a:solidFill>
                <a:latin typeface="Cambria"/>
              </a:rPr>
              <a:t>Conclusiones y próximos pasos</a:t>
            </a:r>
          </a:p>
        </p:txBody>
      </p:sp>
      <p:sp>
        <p:nvSpPr>
          <p:cNvPr id="4" name="Oval 3"/>
          <p:cNvSpPr/>
          <p:nvPr/>
        </p:nvSpPr>
        <p:spPr>
          <a:xfrm>
            <a:off x="777239" y="1527048"/>
            <a:ext cx="548640" cy="548640"/>
          </a:xfrm>
          <a:prstGeom prst="ellipse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39" y="1527048"/>
            <a:ext cx="548640" cy="548640"/>
          </a:xfrm>
          <a:prstGeom prst="ellipse">
            <a:avLst/>
          </a:prstGeom>
          <a:noFill/>
          <a:ln w="20320">
            <a:solidFill>
              <a:srgbClr val="E0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8913" y="1719072"/>
            <a:ext cx="285292" cy="131673"/>
          </a:xfrm>
          <a:prstGeom prst="roundRect">
            <a:avLst>
              <a:gd name="adj" fmla="val 25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6345" y="1850745"/>
            <a:ext cx="49377" cy="49377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7396" y="1850745"/>
            <a:ext cx="49377" cy="49377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417320"/>
            <a:ext cx="9601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DEFF2"/>
                </a:solidFill>
                <a:latin typeface="Cambria"/>
              </a:rPr>
              <a:t>Buturamá es el frente dominante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8308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4B2"/>
                </a:solidFill>
                <a:latin typeface="Calibri"/>
              </a:rPr>
              <a:t>Aporta el 78 % del tonelaje (1,100,698 t de 1.42 M t) y está concentrado en un solo cliente: Minex (71 % de sus viajes).</a:t>
            </a:r>
          </a:p>
        </p:txBody>
      </p:sp>
      <p:sp>
        <p:nvSpPr>
          <p:cNvPr id="11" name="Oval 10"/>
          <p:cNvSpPr/>
          <p:nvPr/>
        </p:nvSpPr>
        <p:spPr>
          <a:xfrm>
            <a:off x="777239" y="2697480"/>
            <a:ext cx="548640" cy="548640"/>
          </a:xfrm>
          <a:prstGeom prst="ellipse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39" y="2697480"/>
            <a:ext cx="548640" cy="548640"/>
          </a:xfrm>
          <a:prstGeom prst="ellipse">
            <a:avLst/>
          </a:prstGeom>
          <a:noFill/>
          <a:ln w="20320">
            <a:solidFill>
              <a:srgbClr val="E0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8913" y="2889504"/>
            <a:ext cx="285292" cy="131673"/>
          </a:xfrm>
          <a:prstGeom prst="roundRect">
            <a:avLst>
              <a:gd name="adj" fmla="val 25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6345" y="3021177"/>
            <a:ext cx="49377" cy="49377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7396" y="3021177"/>
            <a:ext cx="49377" cy="49377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2587752"/>
            <a:ext cx="9601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DEFF2"/>
                </a:solidFill>
                <a:latin typeface="Cambria"/>
              </a:rPr>
              <a:t>México/La Dorada diversifica el riesgo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953512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4B2"/>
                </a:solidFill>
                <a:latin typeface="Calibri"/>
              </a:rPr>
              <a:t>Con 308,224 t y clientes distintos (Camco, Flame/Colombia), es el frente a fortalecer si se busca reducir la dependencia de Minex.</a:t>
            </a:r>
          </a:p>
        </p:txBody>
      </p:sp>
      <p:sp>
        <p:nvSpPr>
          <p:cNvPr id="18" name="Oval 17"/>
          <p:cNvSpPr/>
          <p:nvPr/>
        </p:nvSpPr>
        <p:spPr>
          <a:xfrm>
            <a:off x="777239" y="3867912"/>
            <a:ext cx="548640" cy="548640"/>
          </a:xfrm>
          <a:prstGeom prst="ellipse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39" y="3867912"/>
            <a:ext cx="548640" cy="548640"/>
          </a:xfrm>
          <a:prstGeom prst="ellipse">
            <a:avLst/>
          </a:prstGeom>
          <a:noFill/>
          <a:ln w="20320">
            <a:solidFill>
              <a:srgbClr val="E0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8913" y="4059936"/>
            <a:ext cx="285292" cy="131673"/>
          </a:xfrm>
          <a:prstGeom prst="roundRect">
            <a:avLst>
              <a:gd name="adj" fmla="val 25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6345" y="4191609"/>
            <a:ext cx="49377" cy="49377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7396" y="4191609"/>
            <a:ext cx="49377" cy="49377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758184"/>
            <a:ext cx="9601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DEFF2"/>
                </a:solidFill>
                <a:latin typeface="Cambria"/>
              </a:rPr>
              <a:t>Chiriguaná es el cuello de botella natural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123944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4B2"/>
                </a:solidFill>
                <a:latin typeface="Calibri"/>
              </a:rPr>
              <a:t>Al recibir ambos frentes, sus maniobras de patio deben absorber la suma de los dos flujos — conviene revisar su capacidad de consolidación en horas pico.</a:t>
            </a:r>
          </a:p>
        </p:txBody>
      </p:sp>
      <p:sp>
        <p:nvSpPr>
          <p:cNvPr id="25" name="Oval 24"/>
          <p:cNvSpPr/>
          <p:nvPr/>
        </p:nvSpPr>
        <p:spPr>
          <a:xfrm>
            <a:off x="777239" y="5038344"/>
            <a:ext cx="548640" cy="548640"/>
          </a:xfrm>
          <a:prstGeom prst="ellipse">
            <a:avLst/>
          </a:prstGeom>
          <a:solidFill>
            <a:srgbClr val="24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39" y="5038344"/>
            <a:ext cx="548640" cy="548640"/>
          </a:xfrm>
          <a:prstGeom prst="ellipse">
            <a:avLst/>
          </a:prstGeom>
          <a:noFill/>
          <a:ln w="20320">
            <a:solidFill>
              <a:srgbClr val="E0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8913" y="5230368"/>
            <a:ext cx="285292" cy="131673"/>
          </a:xfrm>
          <a:prstGeom prst="roundRect">
            <a:avLst>
              <a:gd name="adj" fmla="val 25000"/>
            </a:avLst>
          </a:prstGeom>
          <a:solidFill>
            <a:srgbClr val="E0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6345" y="5362041"/>
            <a:ext cx="49377" cy="49377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17396" y="5362041"/>
            <a:ext cx="49377" cy="49377"/>
          </a:xfrm>
          <a:prstGeom prst="ellipse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00200" y="4928616"/>
            <a:ext cx="9601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DEFF2"/>
                </a:solidFill>
                <a:latin typeface="Cambria"/>
              </a:rPr>
              <a:t>Dato programado, no ejecutado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294376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4B2"/>
                </a:solidFill>
                <a:latin typeface="Calibri"/>
              </a:rPr>
              <a:t>716 de 717 registros están en estado "Programado": para medir cumplimiento real se necesita cruzar contra los reportes de "Realizado".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4B2"/>
                </a:solidFill>
                <a:latin typeface="Calibri"/>
              </a:rPr>
              <a:t>Elaborado a partir de Listado_Temporal1786626620978.xlsx (717 registros, ago. 2025–ago. 2026)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4B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