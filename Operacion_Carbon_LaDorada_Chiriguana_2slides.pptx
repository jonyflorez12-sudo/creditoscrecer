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0" r:id="rId2"/>
    <p:sldId id="273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82" y="10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v>Toneladas</c:v>
          </c:tx>
          <c:dPt>
            <c:idx val="0"/>
            <c:bubble3D val="0"/>
            <c:spPr>
              <a:solidFill>
                <a:srgbClr val="E08E3E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8F1D-4669-9D66-07335D41A6C1}"/>
              </c:ext>
            </c:extLst>
          </c:dPt>
          <c:dPt>
            <c:idx val="1"/>
            <c:bubble3D val="0"/>
            <c:spPr>
              <a:solidFill>
                <a:srgbClr val="4A5568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8F1D-4669-9D66-07335D41A6C1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1400" b="1">
                      <a:solidFill>
                        <a:srgbClr val="20242C"/>
                      </a:solidFill>
                    </a:defRPr>
                  </a:pPr>
                  <a:endParaRPr lang="es-E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8F1D-4669-9D66-07335D41A6C1}"/>
                </c:ext>
              </c:extLst>
            </c:dLbl>
            <c:dLbl>
              <c:idx val="1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1400" b="1">
                      <a:solidFill>
                        <a:srgbClr val="FFFFFF"/>
                      </a:solidFill>
                    </a:defRPr>
                  </a:pPr>
                  <a:endParaRPr lang="es-E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8F1D-4669-9D66-07335D41A6C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/>
                </a:pPr>
                <a:endParaRPr lang="es-E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Lit>
              <c:ptCount val="2"/>
              <c:pt idx="0">
                <c:v>México/La Dorada</c:v>
              </c:pt>
              <c:pt idx="1">
                <c:v>Buturamá</c:v>
              </c:pt>
            </c:strLit>
          </c:cat>
          <c:val>
            <c:numLit>
              <c:formatCode>General</c:formatCode>
              <c:ptCount val="2"/>
              <c:pt idx="0">
                <c:v>308224</c:v>
              </c:pt>
              <c:pt idx="1">
                <c:v>1100698</c:v>
              </c:pt>
            </c:numLit>
          </c:val>
          <c:extLst>
            <c:ext xmlns:c16="http://schemas.microsoft.com/office/drawing/2014/chart" uri="{C3380CC4-5D6E-409C-BE32-E72D297353CC}">
              <c16:uniqueId val="{00000004-8F1D-4669-9D66-07335D41A6C1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5"/>
      </c:doughnutChart>
    </c:plotArea>
    <c:plotVisOnly val="1"/>
    <c:dispBlanksAs val="zero"/>
    <c:showDLblsOverMax val="1"/>
  </c:chart>
  <c:spPr>
    <a:noFill/>
    <a:ln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title>
      <c:tx>
        <c:rich>
          <a:bodyPr/>
          <a:lstStyle/>
          <a:p>
            <a:pPr>
              <a:defRPr sz="1600" b="1">
                <a:solidFill>
                  <a:srgbClr val="20242C"/>
                </a:solidFill>
              </a:defRPr>
            </a:pPr>
            <a:r>
              <a:rPr lang="es-ES" sz="1600" b="1">
                <a:solidFill>
                  <a:srgbClr val="20242C"/>
                </a:solidFill>
              </a:rPr>
              <a:t>Evolución mensual del tonelaje (t)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Toneladas transportadas</c:v>
          </c:tx>
          <c:spPr>
            <a:solidFill>
              <a:srgbClr val="E08E3E"/>
            </a:solidFill>
            <a:ln>
              <a:noFill/>
            </a:ln>
          </c:spPr>
          <c:invertIfNegative val="1"/>
          <c:dPt>
            <c:idx val="7"/>
            <c:invertIfNegative val="1"/>
            <c:bubble3D val="0"/>
            <c:spPr>
              <a:solidFill>
                <a:srgbClr val="2024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4913-48B6-9DD2-3893E58D40E6}"/>
              </c:ext>
            </c:extLst>
          </c:dPt>
          <c:dPt>
            <c:idx val="8"/>
            <c:invertIfNegative val="1"/>
            <c:bubble3D val="0"/>
            <c:spPr>
              <a:solidFill>
                <a:srgbClr val="2024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4913-48B6-9DD2-3893E58D40E6}"/>
              </c:ext>
            </c:extLst>
          </c:dPt>
          <c:dPt>
            <c:idx val="12"/>
            <c:invertIfNegative val="1"/>
            <c:bubble3D val="0"/>
            <c:spPr>
              <a:solidFill>
                <a:srgbClr val="C8CDD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4913-48B6-9DD2-3893E58D40E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400">
                    <a:solidFill>
                      <a:srgbClr val="20242C"/>
                    </a:solidFill>
                  </a:defRPr>
                </a:pPr>
                <a:endParaRPr lang="es-E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3"/>
              <c:pt idx="0">
                <c:v>ago-25</c:v>
              </c:pt>
              <c:pt idx="1">
                <c:v>sep-25</c:v>
              </c:pt>
              <c:pt idx="2">
                <c:v>oct-25</c:v>
              </c:pt>
              <c:pt idx="3">
                <c:v>nov-25</c:v>
              </c:pt>
              <c:pt idx="4">
                <c:v>dic-25</c:v>
              </c:pt>
              <c:pt idx="5">
                <c:v>ene-26</c:v>
              </c:pt>
              <c:pt idx="6">
                <c:v>feb-26</c:v>
              </c:pt>
              <c:pt idx="7">
                <c:v>mar-26</c:v>
              </c:pt>
              <c:pt idx="8">
                <c:v>abr-26</c:v>
              </c:pt>
              <c:pt idx="9">
                <c:v>may-26</c:v>
              </c:pt>
              <c:pt idx="10">
                <c:v>jun-26</c:v>
              </c:pt>
              <c:pt idx="11">
                <c:v>jul-26</c:v>
              </c:pt>
              <c:pt idx="12">
                <c:v>ago-26*</c:v>
              </c:pt>
            </c:strLit>
          </c:cat>
          <c:val>
            <c:numLit>
              <c:formatCode>General</c:formatCode>
              <c:ptCount val="13"/>
              <c:pt idx="0">
                <c:v>92384</c:v>
              </c:pt>
              <c:pt idx="1">
                <c:v>133357</c:v>
              </c:pt>
              <c:pt idx="2">
                <c:v>104904</c:v>
              </c:pt>
              <c:pt idx="3">
                <c:v>100819</c:v>
              </c:pt>
              <c:pt idx="4">
                <c:v>116290</c:v>
              </c:pt>
              <c:pt idx="5">
                <c:v>115491</c:v>
              </c:pt>
              <c:pt idx="6">
                <c:v>121996</c:v>
              </c:pt>
              <c:pt idx="7">
                <c:v>179848</c:v>
              </c:pt>
              <c:pt idx="8">
                <c:v>179507</c:v>
              </c:pt>
              <c:pt idx="9">
                <c:v>87861</c:v>
              </c:pt>
              <c:pt idx="10">
                <c:v>68442</c:v>
              </c:pt>
              <c:pt idx="11">
                <c:v>96869</c:v>
              </c:pt>
              <c:pt idx="12">
                <c:v>25896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6-4913-48B6-9DD2-3893E58D40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111"/>
        <c:axId val="222"/>
      </c:barChart>
      <c:catAx>
        <c:axId val="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C8CDD4"/>
            </a:solidFill>
          </a:ln>
        </c:spPr>
        <c:txPr>
          <a:bodyPr/>
          <a:lstStyle/>
          <a:p>
            <a:pPr>
              <a:defRPr sz="1400">
                <a:solidFill>
                  <a:srgbClr val="5B6572"/>
                </a:solidFill>
              </a:defRPr>
            </a:pPr>
            <a:endParaRPr lang="es-ES"/>
          </a:p>
        </c:txPr>
        <c:crossAx val="222"/>
        <c:crosses val="autoZero"/>
        <c:auto val="1"/>
        <c:lblAlgn val="ctr"/>
        <c:lblOffset val="100"/>
        <c:noMultiLvlLbl val="1"/>
      </c:catAx>
      <c:valAx>
        <c:axId val="222"/>
        <c:scaling>
          <c:orientation val="minMax"/>
        </c:scaling>
        <c:delete val="0"/>
        <c:axPos val="l"/>
        <c:majorGridlines>
          <c:spPr>
            <a:ln w="9525">
              <a:solidFill>
                <a:srgbClr val="E6E9ED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solidFill>
              <a:srgbClr val="C8CDD4"/>
            </a:solidFill>
          </a:ln>
        </c:spPr>
        <c:txPr>
          <a:bodyPr/>
          <a:lstStyle/>
          <a:p>
            <a:pPr>
              <a:defRPr sz="1400">
                <a:solidFill>
                  <a:srgbClr val="5B6572"/>
                </a:solidFill>
              </a:defRPr>
            </a:pPr>
            <a:endParaRPr lang="es-ES"/>
          </a:p>
        </c:txPr>
        <c:crossAx val="111"/>
        <c:crosses val="autoZero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65760"/>
            <a:ext cx="11064240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100" b="1" i="0" noProof="0" dirty="0">
                <a:solidFill>
                  <a:srgbClr val="E08E3E"/>
                </a:solidFill>
                <a:latin typeface="Calibri"/>
              </a:rPr>
              <a:t>OPERACIÓN DE CARGUE Y TRANSPORTE DE CARBÓN · CORREDOR LA DORADA–CHIRIGUANÁ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2700" b="1" i="0" noProof="0" dirty="0">
                <a:solidFill>
                  <a:srgbClr val="20242C"/>
                </a:solidFill>
                <a:latin typeface="Cambria"/>
              </a:rPr>
              <a:t>Dos frentes de cargue, un mismo patio de destino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250" b="0" i="0" noProof="0" dirty="0">
                <a:solidFill>
                  <a:srgbClr val="5B6572"/>
                </a:solidFill>
                <a:latin typeface="Calibri"/>
              </a:rPr>
              <a:t>El carbón entra al corredor por dos puntos distintos; Chiriguaná (PK722+683) es el patio único de consolidación</a:t>
            </a:r>
          </a:p>
        </p:txBody>
      </p:sp>
      <p:sp>
        <p:nvSpPr>
          <p:cNvPr id="8" name="Oval 7"/>
          <p:cNvSpPr/>
          <p:nvPr/>
        </p:nvSpPr>
        <p:spPr>
          <a:xfrm>
            <a:off x="546100" y="1854200"/>
            <a:ext cx="165100" cy="165100"/>
          </a:xfrm>
          <a:prstGeom prst="ellipse">
            <a:avLst/>
          </a:prstGeom>
          <a:solidFill>
            <a:srgbClr val="E08E3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9" name="Oval 8"/>
          <p:cNvSpPr/>
          <p:nvPr/>
        </p:nvSpPr>
        <p:spPr>
          <a:xfrm>
            <a:off x="4229100" y="1854200"/>
            <a:ext cx="165100" cy="165100"/>
          </a:xfrm>
          <a:prstGeom prst="ellipse">
            <a:avLst/>
          </a:prstGeom>
          <a:solidFill>
            <a:srgbClr val="4A5568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0" name="Oval 9"/>
          <p:cNvSpPr/>
          <p:nvPr/>
        </p:nvSpPr>
        <p:spPr>
          <a:xfrm>
            <a:off x="7912100" y="1854200"/>
            <a:ext cx="165100" cy="165100"/>
          </a:xfrm>
          <a:prstGeom prst="ellipse">
            <a:avLst/>
          </a:prstGeom>
          <a:solidFill>
            <a:srgbClr val="E08E3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800100" y="1816100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200" b="1" i="0" noProof="0" dirty="0">
                <a:solidFill>
                  <a:srgbClr val="E08E3E"/>
                </a:solidFill>
                <a:latin typeface="Calibri"/>
              </a:rPr>
              <a:t>PK202+000/207+000 — México/La Dorada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2070100"/>
            <a:ext cx="32004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100" b="0" i="0" noProof="0" dirty="0">
                <a:solidFill>
                  <a:srgbClr val="5B6572"/>
                </a:solidFill>
                <a:latin typeface="Calibri"/>
              </a:rPr>
              <a:t>Frente 1: acopio local + corredor principal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3100" y="1816100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200" b="1" i="0" noProof="0" dirty="0">
                <a:solidFill>
                  <a:srgbClr val="4A5568"/>
                </a:solidFill>
                <a:latin typeface="Calibri"/>
              </a:rPr>
              <a:t>PK593+750 — </a:t>
            </a:r>
            <a:r>
              <a:rPr lang="es-CO" sz="1200" b="1" i="0" noProof="0" dirty="0" err="1">
                <a:solidFill>
                  <a:srgbClr val="4A5568"/>
                </a:solidFill>
                <a:latin typeface="Calibri"/>
              </a:rPr>
              <a:t>Buturamá</a:t>
            </a:r>
            <a:endParaRPr lang="es-CO" sz="1200" b="1" i="0" noProof="0" dirty="0">
              <a:solidFill>
                <a:srgbClr val="4A5568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83100" y="2070100"/>
            <a:ext cx="32004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100" b="0" i="0" noProof="0" dirty="0">
                <a:solidFill>
                  <a:srgbClr val="5B6572"/>
                </a:solidFill>
                <a:latin typeface="Calibri"/>
              </a:rPr>
              <a:t>Frente 2: cargue continuo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6100" y="1816100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200" b="1" i="0" noProof="0" dirty="0">
                <a:solidFill>
                  <a:srgbClr val="E08E3E"/>
                </a:solidFill>
                <a:latin typeface="Calibri"/>
              </a:rPr>
              <a:t>PK722+683 — Chiriguaná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6100" y="2070100"/>
            <a:ext cx="32004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100" b="0" i="0" noProof="0" dirty="0">
                <a:solidFill>
                  <a:srgbClr val="5B6572"/>
                </a:solidFill>
                <a:latin typeface="Calibri"/>
              </a:rPr>
              <a:t>Patio único de consolidación de ambos frentes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6100" y="2298700"/>
            <a:ext cx="2082800" cy="1320800"/>
          </a:xfrm>
          <a:prstGeom prst="rect">
            <a:avLst/>
          </a:prstGeom>
          <a:solidFill>
            <a:srgbClr val="F4F5F7"/>
          </a:solidFill>
          <a:ln w="9525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736600" y="2431994"/>
            <a:ext cx="1701800" cy="722376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2500" b="1" i="0" noProof="0" dirty="0">
                <a:solidFill>
                  <a:srgbClr val="E08E3E"/>
                </a:solidFill>
                <a:latin typeface="Cambria"/>
              </a:rPr>
              <a:t>1.42 M 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600" y="3124200"/>
            <a:ext cx="17018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100" b="0" i="0" noProof="0" dirty="0">
                <a:solidFill>
                  <a:srgbClr val="5B6572"/>
                </a:solidFill>
                <a:latin typeface="Calibri"/>
              </a:rPr>
              <a:t>toneladas de carbón</a:t>
            </a:r>
          </a:p>
          <a:p>
            <a:pPr algn="l">
              <a:lnSpc>
                <a:spcPct val="100000"/>
              </a:lnSpc>
            </a:pPr>
            <a:r>
              <a:rPr lang="es-CO" sz="1100" b="0" i="0" noProof="0" dirty="0">
                <a:solidFill>
                  <a:srgbClr val="5B6572"/>
                </a:solidFill>
                <a:latin typeface="Calibri"/>
              </a:rPr>
              <a:t>transportadas (12 meses)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90825" y="2303978"/>
            <a:ext cx="2082800" cy="1320800"/>
          </a:xfrm>
          <a:prstGeom prst="rect">
            <a:avLst/>
          </a:prstGeom>
          <a:solidFill>
            <a:srgbClr val="F4F5F7"/>
          </a:solidFill>
          <a:ln w="9525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2981325" y="2431994"/>
            <a:ext cx="1701800" cy="722376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2500" b="1" i="0" noProof="0" dirty="0">
                <a:solidFill>
                  <a:srgbClr val="E08E3E"/>
                </a:solidFill>
                <a:latin typeface="Cambria"/>
              </a:rPr>
              <a:t>344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81325" y="3124200"/>
            <a:ext cx="17018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100" b="0" i="0" noProof="0" dirty="0">
                <a:solidFill>
                  <a:srgbClr val="5B6572"/>
                </a:solidFill>
                <a:latin typeface="Calibri"/>
              </a:rPr>
              <a:t>viajes cargados</a:t>
            </a:r>
          </a:p>
          <a:p>
            <a:pPr algn="l">
              <a:lnSpc>
                <a:spcPct val="100000"/>
              </a:lnSpc>
            </a:pPr>
            <a:r>
              <a:rPr lang="es-CO" sz="1100" b="0" i="0" noProof="0" dirty="0">
                <a:solidFill>
                  <a:srgbClr val="5B6572"/>
                </a:solidFill>
                <a:latin typeface="Calibri"/>
              </a:rPr>
              <a:t>registrados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35550" y="2303978"/>
            <a:ext cx="2082800" cy="1320800"/>
          </a:xfrm>
          <a:prstGeom prst="rect">
            <a:avLst/>
          </a:prstGeom>
          <a:solidFill>
            <a:srgbClr val="F4F5F7"/>
          </a:solidFill>
          <a:ln w="9525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5226050" y="2431994"/>
            <a:ext cx="1701800" cy="722376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2500" b="1" i="0" noProof="0" dirty="0">
                <a:solidFill>
                  <a:srgbClr val="E08E3E"/>
                </a:solidFill>
                <a:latin typeface="Cambria"/>
              </a:rPr>
              <a:t>~40 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6050" y="3124200"/>
            <a:ext cx="17018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100" b="0" i="0" noProof="0" dirty="0">
                <a:solidFill>
                  <a:srgbClr val="5B6572"/>
                </a:solidFill>
                <a:latin typeface="Calibri"/>
              </a:rPr>
              <a:t>toneladas de carbón</a:t>
            </a:r>
          </a:p>
          <a:p>
            <a:pPr algn="l">
              <a:lnSpc>
                <a:spcPct val="100000"/>
              </a:lnSpc>
            </a:pPr>
            <a:r>
              <a:rPr lang="es-CO" sz="1100" b="0" i="0" noProof="0" dirty="0">
                <a:solidFill>
                  <a:srgbClr val="5B6572"/>
                </a:solidFill>
                <a:latin typeface="Calibri"/>
              </a:rPr>
              <a:t>por góndola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80275" y="2303978"/>
            <a:ext cx="2082800" cy="1320800"/>
          </a:xfrm>
          <a:prstGeom prst="rect">
            <a:avLst/>
          </a:prstGeom>
          <a:solidFill>
            <a:srgbClr val="F4F5F7"/>
          </a:solidFill>
          <a:ln w="9525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7" name="TextBox 26"/>
          <p:cNvSpPr txBox="1"/>
          <p:nvPr/>
        </p:nvSpPr>
        <p:spPr>
          <a:xfrm>
            <a:off x="7470775" y="2431994"/>
            <a:ext cx="1701800" cy="722376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2500" b="1" i="0" noProof="0" dirty="0">
                <a:solidFill>
                  <a:srgbClr val="E08E3E"/>
                </a:solidFill>
                <a:latin typeface="Cambria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0775" y="3124200"/>
            <a:ext cx="17018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100" b="0" i="0" noProof="0" dirty="0">
                <a:solidFill>
                  <a:srgbClr val="5B6572"/>
                </a:solidFill>
                <a:latin typeface="Calibri"/>
              </a:rPr>
              <a:t>empresas exportadoras</a:t>
            </a:r>
          </a:p>
          <a:p>
            <a:pPr algn="l">
              <a:lnSpc>
                <a:spcPct val="100000"/>
              </a:lnSpc>
            </a:pPr>
            <a:r>
              <a:rPr lang="es-CO" sz="1100" b="0" i="0" noProof="0" dirty="0">
                <a:solidFill>
                  <a:srgbClr val="5B6572"/>
                </a:solidFill>
                <a:latin typeface="Calibri"/>
              </a:rPr>
              <a:t>activas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25000" y="2303978"/>
            <a:ext cx="2082800" cy="1320800"/>
          </a:xfrm>
          <a:prstGeom prst="rect">
            <a:avLst/>
          </a:prstGeom>
          <a:solidFill>
            <a:srgbClr val="F4F5F7"/>
          </a:solidFill>
          <a:ln w="9525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0" name="TextBox 29"/>
          <p:cNvSpPr txBox="1"/>
          <p:nvPr/>
        </p:nvSpPr>
        <p:spPr>
          <a:xfrm>
            <a:off x="9715500" y="2431994"/>
            <a:ext cx="1701800" cy="722376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2500" b="1" i="0" noProof="0" dirty="0">
                <a:solidFill>
                  <a:srgbClr val="E08E3E"/>
                </a:solidFill>
                <a:latin typeface="Cambria"/>
              </a:rPr>
              <a:t>≥100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15500" y="3124200"/>
            <a:ext cx="17018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100" b="0" i="0" noProof="0" dirty="0">
                <a:solidFill>
                  <a:srgbClr val="5B6572"/>
                </a:solidFill>
                <a:latin typeface="Calibri"/>
              </a:rPr>
              <a:t>góndolas en 6 de cada 10</a:t>
            </a:r>
          </a:p>
          <a:p>
            <a:pPr algn="l">
              <a:lnSpc>
                <a:spcPct val="100000"/>
              </a:lnSpc>
            </a:pPr>
            <a:r>
              <a:rPr lang="es-CO" sz="1100" b="0" i="0" noProof="0" dirty="0">
                <a:solidFill>
                  <a:srgbClr val="5B6572"/>
                </a:solidFill>
                <a:latin typeface="Calibri"/>
              </a:rPr>
              <a:t>formaciones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810000"/>
            <a:ext cx="533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400" b="1" i="0" noProof="0" dirty="0">
                <a:solidFill>
                  <a:srgbClr val="20242C"/>
                </a:solidFill>
                <a:latin typeface="Cambria"/>
              </a:rPr>
              <a:t>Reparto de tonelaje por frente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6100" y="4191000"/>
            <a:ext cx="5334000" cy="736600"/>
          </a:xfrm>
          <a:prstGeom prst="rect">
            <a:avLst/>
          </a:prstGeom>
          <a:solidFill>
            <a:srgbClr val="F4F5F7"/>
          </a:solidFill>
          <a:ln w="9525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4" name="Oval 33"/>
          <p:cNvSpPr/>
          <p:nvPr/>
        </p:nvSpPr>
        <p:spPr>
          <a:xfrm>
            <a:off x="711200" y="4508500"/>
            <a:ext cx="109728" cy="109728"/>
          </a:xfrm>
          <a:prstGeom prst="ellipse">
            <a:avLst/>
          </a:prstGeom>
          <a:solidFill>
            <a:srgbClr val="E0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5" name="TextBox 34"/>
          <p:cNvSpPr txBox="1"/>
          <p:nvPr/>
        </p:nvSpPr>
        <p:spPr>
          <a:xfrm>
            <a:off x="965200" y="4419600"/>
            <a:ext cx="2476500" cy="279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200" b="1" i="0" noProof="0" dirty="0">
                <a:solidFill>
                  <a:srgbClr val="20242C"/>
                </a:solidFill>
                <a:latin typeface="Calibri"/>
              </a:rPr>
              <a:t>México/La Dorada → Chiriguaná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27400" y="4419600"/>
            <a:ext cx="1092200" cy="279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es-CO" sz="1200" b="0" i="0" noProof="0" dirty="0">
                <a:solidFill>
                  <a:srgbClr val="5B6572"/>
                </a:solidFill>
                <a:latin typeface="Calibri"/>
              </a:rPr>
              <a:t>97 viajes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70400" y="4419600"/>
            <a:ext cx="1333500" cy="279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es-CO" sz="1200" b="1" i="0" noProof="0" dirty="0">
                <a:solidFill>
                  <a:srgbClr val="E08E3E"/>
                </a:solidFill>
                <a:latin typeface="Calibri"/>
              </a:rPr>
              <a:t>308,224 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6100" y="5054600"/>
            <a:ext cx="5334000" cy="736600"/>
          </a:xfrm>
          <a:prstGeom prst="rect">
            <a:avLst/>
          </a:prstGeom>
          <a:solidFill>
            <a:srgbClr val="F4F5F7"/>
          </a:solidFill>
          <a:ln w="9525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0" name="Oval 39"/>
          <p:cNvSpPr/>
          <p:nvPr/>
        </p:nvSpPr>
        <p:spPr>
          <a:xfrm>
            <a:off x="711200" y="5372100"/>
            <a:ext cx="109728" cy="109728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1" name="TextBox 40"/>
          <p:cNvSpPr txBox="1"/>
          <p:nvPr/>
        </p:nvSpPr>
        <p:spPr>
          <a:xfrm>
            <a:off x="965200" y="5283200"/>
            <a:ext cx="2476500" cy="279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200" b="1" i="0" noProof="0" dirty="0" err="1">
                <a:solidFill>
                  <a:srgbClr val="20242C"/>
                </a:solidFill>
                <a:latin typeface="Calibri"/>
              </a:rPr>
              <a:t>Buturamá</a:t>
            </a:r>
            <a:r>
              <a:rPr lang="es-CO" sz="1200" b="1" i="0" noProof="0" dirty="0">
                <a:solidFill>
                  <a:srgbClr val="20242C"/>
                </a:solidFill>
                <a:latin typeface="Calibri"/>
              </a:rPr>
              <a:t> → Chiriguaná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27400" y="5283200"/>
            <a:ext cx="1092200" cy="279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es-CO" sz="1200" b="0" i="0" noProof="0" dirty="0">
                <a:solidFill>
                  <a:srgbClr val="5B6572"/>
                </a:solidFill>
                <a:latin typeface="Calibri"/>
              </a:rPr>
              <a:t>241 viajes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70400" y="5283200"/>
            <a:ext cx="1333500" cy="279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es-CO" sz="1200" b="1" i="0" noProof="0" dirty="0">
                <a:solidFill>
                  <a:srgbClr val="4A5568"/>
                </a:solidFill>
                <a:latin typeface="Calibri"/>
              </a:rPr>
              <a:t>1,100,698 t</a:t>
            </a:r>
          </a:p>
        </p:txBody>
      </p:sp>
      <p:graphicFrame>
        <p:nvGraphicFramePr>
          <p:cNvPr id="150" name="Chart Reparto"/>
          <p:cNvGraphicFramePr/>
          <p:nvPr/>
        </p:nvGraphicFramePr>
        <p:xfrm>
          <a:off x="6096000" y="4127500"/>
          <a:ext cx="5537200" cy="1917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Rectángulo 1">
            <a:extLst>
              <a:ext uri="{FF2B5EF4-FFF2-40B4-BE49-F238E27FC236}">
                <a16:creationId xmlns:a16="http://schemas.microsoft.com/office/drawing/2014/main" id="{A66CB0B9-439D-48DA-AD23-C983316FA094}"/>
              </a:ext>
            </a:extLst>
          </p:cNvPr>
          <p:cNvSpPr/>
          <p:nvPr/>
        </p:nvSpPr>
        <p:spPr>
          <a:xfrm>
            <a:off x="546100" y="6045200"/>
            <a:ext cx="11061700" cy="25400"/>
          </a:xfrm>
          <a:prstGeom prst="rect">
            <a:avLst/>
          </a:prstGeom>
          <a:solidFill>
            <a:srgbClr val="E08E3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847039C-5B97-4572-8FB9-F85F26DBD4F9}"/>
              </a:ext>
            </a:extLst>
          </p:cNvPr>
          <p:cNvSpPr txBox="1"/>
          <p:nvPr/>
        </p:nvSpPr>
        <p:spPr>
          <a:xfrm>
            <a:off x="546100" y="6172200"/>
            <a:ext cx="110617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S" sz="1200">
                <a:solidFill>
                  <a:srgbClr val="5B6572"/>
                </a:solidFill>
                <a:latin typeface="Calibri"/>
                <a:ea typeface="Calibri"/>
                <a:cs typeface="Calibri"/>
              </a:rPr>
              <a:t>Buturamá concentra el 78 % del tonelaje (1,100,698 t en 241 viajes); México/La Dorada aporta el 22 % restante (308,224 t en 97 viajes). Chiriguaná consolida ambos flujos en un solo patio.</a:t>
            </a:r>
            <a:endParaRPr lang="es-CO" sz="1200">
              <a:solidFill>
                <a:srgbClr val="5B657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ADCDA24-2D06-447B-9159-84FEEE1E91D8}"/>
              </a:ext>
            </a:extLst>
          </p:cNvPr>
          <p:cNvSpPr txBox="1"/>
          <p:nvPr/>
        </p:nvSpPr>
        <p:spPr>
          <a:xfrm>
            <a:off x="6096000" y="38100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S" sz="1400" b="1">
                <a:solidFill>
                  <a:srgbClr val="20242C"/>
                </a:solidFill>
                <a:latin typeface="Calibri"/>
                <a:ea typeface="Calibri"/>
                <a:cs typeface="Calibri"/>
              </a:rPr>
              <a:t>Participación de tonelaje por frente</a:t>
            </a:r>
            <a:endParaRPr lang="es-CO" sz="1400" b="1">
              <a:solidFill>
                <a:srgbClr val="20242C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07913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65760"/>
            <a:ext cx="1106424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2700" b="1" i="0" noProof="0" dirty="0">
                <a:latin typeface="Cambria"/>
              </a:rPr>
              <a:t>Ciclo operativo, evolución mensual y simulación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250" b="0" i="0" noProof="0" dirty="0">
                <a:latin typeface="Calibri"/>
              </a:rPr>
              <a:t>Cada frente carga de forma independiente; ambos entregan en el mismo patio de Chiriguaná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35204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200" b="1" i="0" noProof="0" dirty="0">
                <a:latin typeface="Cambria"/>
              </a:rPr>
              <a:t>Frente 1 · México/La Dorada</a:t>
            </a:r>
          </a:p>
        </p:txBody>
      </p:sp>
      <p:sp>
        <p:nvSpPr>
          <p:cNvPr id="6" name="Oval 5"/>
          <p:cNvSpPr/>
          <p:nvPr/>
        </p:nvSpPr>
        <p:spPr>
          <a:xfrm>
            <a:off x="576072" y="1651000"/>
            <a:ext cx="384048" cy="384048"/>
          </a:xfrm>
          <a:prstGeom prst="ellipse">
            <a:avLst/>
          </a:prstGeom>
          <a:solidFill>
            <a:srgbClr val="242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noProof="0" dirty="0">
              <a:solidFill>
                <a:schemeClr val="tx1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576072" y="1651000"/>
            <a:ext cx="384048" cy="384048"/>
          </a:xfrm>
          <a:prstGeom prst="ellipse">
            <a:avLst/>
          </a:prstGeom>
          <a:noFill/>
          <a:ln w="17780">
            <a:solidFill>
              <a:srgbClr val="E0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noProof="0"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68243" y="1790700"/>
            <a:ext cx="199704" cy="92171"/>
          </a:xfrm>
          <a:prstGeom prst="roundRect">
            <a:avLst>
              <a:gd name="adj" fmla="val 25000"/>
            </a:avLst>
          </a:prstGeom>
          <a:solidFill>
            <a:srgbClr val="E0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noProof="0" dirty="0">
              <a:solidFill>
                <a:schemeClr val="tx1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687445" y="1879600"/>
            <a:ext cx="34564" cy="34564"/>
          </a:xfrm>
          <a:prstGeom prst="ellipse">
            <a:avLst/>
          </a:prstGeom>
          <a:solidFill>
            <a:srgbClr val="2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noProof="0" dirty="0">
              <a:solidFill>
                <a:schemeClr val="tx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814181" y="1879600"/>
            <a:ext cx="34564" cy="34564"/>
          </a:xfrm>
          <a:prstGeom prst="ellipse">
            <a:avLst/>
          </a:prstGeom>
          <a:solidFill>
            <a:srgbClr val="2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noProof="0" dirty="0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51560" y="1651000"/>
            <a:ext cx="3048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100" b="1" i="0" noProof="0" dirty="0">
                <a:latin typeface="Calibri"/>
              </a:rPr>
              <a:t>Acopio entre PK202 y PK207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4100" y="1866900"/>
            <a:ext cx="30480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000" b="0" i="0" noProof="0" dirty="0">
                <a:latin typeface="Calibri"/>
              </a:rPr>
              <a:t>Tres lotes de 50 góndolas vacías cargan en el PK207 y regresan en reversa al patio del PK202.</a:t>
            </a:r>
          </a:p>
        </p:txBody>
      </p:sp>
      <p:sp>
        <p:nvSpPr>
          <p:cNvPr id="13" name="Oval 12"/>
          <p:cNvSpPr/>
          <p:nvPr/>
        </p:nvSpPr>
        <p:spPr>
          <a:xfrm>
            <a:off x="576072" y="2311400"/>
            <a:ext cx="384048" cy="384048"/>
          </a:xfrm>
          <a:prstGeom prst="ellipse">
            <a:avLst/>
          </a:prstGeom>
          <a:solidFill>
            <a:srgbClr val="242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noProof="0" dirty="0">
              <a:solidFill>
                <a:schemeClr val="tx1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576072" y="2311400"/>
            <a:ext cx="384048" cy="384048"/>
          </a:xfrm>
          <a:prstGeom prst="ellipse">
            <a:avLst/>
          </a:prstGeom>
          <a:noFill/>
          <a:ln w="17780">
            <a:solidFill>
              <a:srgbClr val="E0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noProof="0" dirty="0"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68243" y="2451100"/>
            <a:ext cx="199704" cy="92171"/>
          </a:xfrm>
          <a:prstGeom prst="roundRect">
            <a:avLst>
              <a:gd name="adj" fmla="val 25000"/>
            </a:avLst>
          </a:prstGeom>
          <a:solidFill>
            <a:srgbClr val="E0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noProof="0" dirty="0">
              <a:solidFill>
                <a:schemeClr val="tx1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687445" y="2540000"/>
            <a:ext cx="34564" cy="34564"/>
          </a:xfrm>
          <a:prstGeom prst="ellipse">
            <a:avLst/>
          </a:prstGeom>
          <a:solidFill>
            <a:srgbClr val="2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noProof="0" dirty="0">
              <a:solidFill>
                <a:schemeClr val="tx1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814181" y="2540000"/>
            <a:ext cx="34564" cy="34564"/>
          </a:xfrm>
          <a:prstGeom prst="ellipse">
            <a:avLst/>
          </a:prstGeom>
          <a:solidFill>
            <a:srgbClr val="2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noProof="0" dirty="0">
              <a:solidFill>
                <a:schemeClr val="tx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51560" y="2311400"/>
            <a:ext cx="3048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100" b="1" i="0" noProof="0" dirty="0">
                <a:latin typeface="Calibri"/>
              </a:rPr>
              <a:t>Maniobras de patio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4100" y="2527300"/>
            <a:ext cx="30480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000" b="0" i="0" noProof="0" dirty="0">
                <a:latin typeface="Calibri"/>
              </a:rPr>
              <a:t>Al reunir 150 góndolas se engancha la locomotora de línea; el tren puede salir con 50, 100 o 150.</a:t>
            </a:r>
          </a:p>
        </p:txBody>
      </p:sp>
      <p:sp>
        <p:nvSpPr>
          <p:cNvPr id="20" name="Oval 19"/>
          <p:cNvSpPr/>
          <p:nvPr/>
        </p:nvSpPr>
        <p:spPr>
          <a:xfrm>
            <a:off x="576072" y="2971800"/>
            <a:ext cx="384048" cy="384048"/>
          </a:xfrm>
          <a:prstGeom prst="ellipse">
            <a:avLst/>
          </a:prstGeom>
          <a:solidFill>
            <a:srgbClr val="242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noProof="0" dirty="0">
              <a:solidFill>
                <a:schemeClr val="tx1"/>
              </a:solidFill>
            </a:endParaRPr>
          </a:p>
        </p:txBody>
      </p:sp>
      <p:sp>
        <p:nvSpPr>
          <p:cNvPr id="21" name="Oval 20"/>
          <p:cNvSpPr/>
          <p:nvPr/>
        </p:nvSpPr>
        <p:spPr>
          <a:xfrm>
            <a:off x="576072" y="2971800"/>
            <a:ext cx="384048" cy="384048"/>
          </a:xfrm>
          <a:prstGeom prst="ellipse">
            <a:avLst/>
          </a:prstGeom>
          <a:noFill/>
          <a:ln w="17780">
            <a:solidFill>
              <a:srgbClr val="E0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noProof="0" dirty="0">
              <a:solidFill>
                <a:schemeClr val="tx1"/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68243" y="3111500"/>
            <a:ext cx="199704" cy="92171"/>
          </a:xfrm>
          <a:prstGeom prst="roundRect">
            <a:avLst>
              <a:gd name="adj" fmla="val 25000"/>
            </a:avLst>
          </a:prstGeom>
          <a:solidFill>
            <a:srgbClr val="E0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noProof="0" dirty="0">
              <a:solidFill>
                <a:schemeClr val="tx1"/>
              </a:solidFill>
            </a:endParaRPr>
          </a:p>
        </p:txBody>
      </p:sp>
      <p:sp>
        <p:nvSpPr>
          <p:cNvPr id="23" name="Oval 22"/>
          <p:cNvSpPr/>
          <p:nvPr/>
        </p:nvSpPr>
        <p:spPr>
          <a:xfrm>
            <a:off x="687445" y="3200400"/>
            <a:ext cx="34564" cy="34564"/>
          </a:xfrm>
          <a:prstGeom prst="ellipse">
            <a:avLst/>
          </a:prstGeom>
          <a:solidFill>
            <a:srgbClr val="2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noProof="0" dirty="0">
              <a:solidFill>
                <a:schemeClr val="tx1"/>
              </a:solidFill>
            </a:endParaRPr>
          </a:p>
        </p:txBody>
      </p:sp>
      <p:sp>
        <p:nvSpPr>
          <p:cNvPr id="24" name="Oval 23"/>
          <p:cNvSpPr/>
          <p:nvPr/>
        </p:nvSpPr>
        <p:spPr>
          <a:xfrm>
            <a:off x="814181" y="3200400"/>
            <a:ext cx="34564" cy="34564"/>
          </a:xfrm>
          <a:prstGeom prst="ellipse">
            <a:avLst/>
          </a:prstGeom>
          <a:solidFill>
            <a:srgbClr val="2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noProof="0" dirty="0"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51560" y="2971800"/>
            <a:ext cx="3048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100" b="1" i="0" noProof="0" dirty="0">
                <a:latin typeface="Calibri"/>
              </a:rPr>
              <a:t>Despacho a Chiriguaná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4100" y="3187700"/>
            <a:ext cx="30480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000" b="0" i="0" noProof="0" dirty="0">
                <a:latin typeface="Calibri"/>
              </a:rPr>
              <a:t>El tren se despacha por el corredor principal hacia Chiriguaná.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325880"/>
            <a:ext cx="35204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200" b="1" i="0" noProof="0" dirty="0">
                <a:latin typeface="Cambria"/>
              </a:rPr>
              <a:t>Frente 2 · </a:t>
            </a:r>
            <a:r>
              <a:rPr lang="es-CO" sz="1200" b="1" i="0" noProof="0" dirty="0" err="1">
                <a:latin typeface="Cambria"/>
              </a:rPr>
              <a:t>Buturamá</a:t>
            </a:r>
            <a:endParaRPr lang="es-CO" sz="1200" b="1" i="0" noProof="0" dirty="0">
              <a:latin typeface="Cambria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4279392" y="1651000"/>
            <a:ext cx="384048" cy="384048"/>
          </a:xfrm>
          <a:prstGeom prst="ellipse">
            <a:avLst/>
          </a:prstGeom>
          <a:solidFill>
            <a:srgbClr val="242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noProof="0" dirty="0">
              <a:solidFill>
                <a:schemeClr val="tx1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4279392" y="1651000"/>
            <a:ext cx="384048" cy="384048"/>
          </a:xfrm>
          <a:prstGeom prst="ellipse">
            <a:avLst/>
          </a:prstGeom>
          <a:noFill/>
          <a:ln w="17780">
            <a:solidFill>
              <a:srgbClr val="6F9B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noProof="0" dirty="0">
              <a:solidFill>
                <a:schemeClr val="tx1"/>
              </a:solidFill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371563" y="1790700"/>
            <a:ext cx="199704" cy="92171"/>
          </a:xfrm>
          <a:prstGeom prst="roundRect">
            <a:avLst>
              <a:gd name="adj" fmla="val 25000"/>
            </a:avLst>
          </a:prstGeom>
          <a:solidFill>
            <a:srgbClr val="6F9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noProof="0" dirty="0">
              <a:solidFill>
                <a:schemeClr val="tx1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4390765" y="1879600"/>
            <a:ext cx="34564" cy="34564"/>
          </a:xfrm>
          <a:prstGeom prst="ellipse">
            <a:avLst/>
          </a:prstGeom>
          <a:solidFill>
            <a:srgbClr val="2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noProof="0" dirty="0">
              <a:solidFill>
                <a:schemeClr val="tx1"/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4517501" y="1879600"/>
            <a:ext cx="34564" cy="34564"/>
          </a:xfrm>
          <a:prstGeom prst="ellipse">
            <a:avLst/>
          </a:prstGeom>
          <a:solidFill>
            <a:srgbClr val="2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noProof="0" dirty="0">
              <a:solidFill>
                <a:schemeClr val="tx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754880" y="1651000"/>
            <a:ext cx="3048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100" b="1" i="0" noProof="0" dirty="0">
                <a:latin typeface="Calibri"/>
              </a:rPr>
              <a:t>Salida en vacío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49800" y="1866900"/>
            <a:ext cx="30480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000" b="0" i="0" noProof="0" dirty="0">
                <a:latin typeface="Calibri"/>
              </a:rPr>
              <a:t>Las góndolas vacías salen de Chiriguaná hacia Buturamá en ciclo continuo.</a:t>
            </a:r>
          </a:p>
        </p:txBody>
      </p:sp>
      <p:sp>
        <p:nvSpPr>
          <p:cNvPr id="35" name="Oval 34"/>
          <p:cNvSpPr/>
          <p:nvPr/>
        </p:nvSpPr>
        <p:spPr>
          <a:xfrm>
            <a:off x="4279392" y="2311400"/>
            <a:ext cx="384048" cy="384048"/>
          </a:xfrm>
          <a:prstGeom prst="ellipse">
            <a:avLst/>
          </a:prstGeom>
          <a:solidFill>
            <a:srgbClr val="242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noProof="0" dirty="0">
              <a:solidFill>
                <a:schemeClr val="tx1"/>
              </a:solidFill>
            </a:endParaRPr>
          </a:p>
        </p:txBody>
      </p:sp>
      <p:sp>
        <p:nvSpPr>
          <p:cNvPr id="36" name="Oval 35"/>
          <p:cNvSpPr/>
          <p:nvPr/>
        </p:nvSpPr>
        <p:spPr>
          <a:xfrm>
            <a:off x="4279392" y="2311400"/>
            <a:ext cx="384048" cy="384048"/>
          </a:xfrm>
          <a:prstGeom prst="ellipse">
            <a:avLst/>
          </a:prstGeom>
          <a:noFill/>
          <a:ln w="17780">
            <a:solidFill>
              <a:srgbClr val="6F9B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noProof="0" dirty="0">
              <a:solidFill>
                <a:schemeClr val="tx1"/>
              </a:solidFill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4371563" y="2451100"/>
            <a:ext cx="199704" cy="92171"/>
          </a:xfrm>
          <a:prstGeom prst="roundRect">
            <a:avLst>
              <a:gd name="adj" fmla="val 25000"/>
            </a:avLst>
          </a:prstGeom>
          <a:solidFill>
            <a:srgbClr val="6F9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noProof="0" dirty="0">
              <a:solidFill>
                <a:schemeClr val="tx1"/>
              </a:solidFill>
            </a:endParaRPr>
          </a:p>
        </p:txBody>
      </p:sp>
      <p:sp>
        <p:nvSpPr>
          <p:cNvPr id="38" name="Oval 37"/>
          <p:cNvSpPr/>
          <p:nvPr/>
        </p:nvSpPr>
        <p:spPr>
          <a:xfrm>
            <a:off x="4390765" y="2540000"/>
            <a:ext cx="34564" cy="34564"/>
          </a:xfrm>
          <a:prstGeom prst="ellipse">
            <a:avLst/>
          </a:prstGeom>
          <a:solidFill>
            <a:srgbClr val="2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noProof="0" dirty="0">
              <a:solidFill>
                <a:schemeClr val="tx1"/>
              </a:solidFill>
            </a:endParaRPr>
          </a:p>
        </p:txBody>
      </p:sp>
      <p:sp>
        <p:nvSpPr>
          <p:cNvPr id="39" name="Oval 38"/>
          <p:cNvSpPr/>
          <p:nvPr/>
        </p:nvSpPr>
        <p:spPr>
          <a:xfrm>
            <a:off x="4517501" y="2540000"/>
            <a:ext cx="34564" cy="34564"/>
          </a:xfrm>
          <a:prstGeom prst="ellipse">
            <a:avLst/>
          </a:prstGeom>
          <a:solidFill>
            <a:srgbClr val="2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noProof="0" dirty="0">
              <a:solidFill>
                <a:schemeClr val="tx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754880" y="2311400"/>
            <a:ext cx="3048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100" b="1" i="0" noProof="0" dirty="0">
                <a:latin typeface="Calibri"/>
              </a:rPr>
              <a:t>Cargue en Buturamá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49800" y="2527300"/>
            <a:ext cx="30480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000" b="0" i="0" noProof="0" dirty="0">
                <a:latin typeface="Calibri"/>
              </a:rPr>
              <a:t>Cargue de carbón a granel: 113 góndolas por formación en promedio.</a:t>
            </a:r>
          </a:p>
        </p:txBody>
      </p:sp>
      <p:sp>
        <p:nvSpPr>
          <p:cNvPr id="42" name="Oval 41"/>
          <p:cNvSpPr/>
          <p:nvPr/>
        </p:nvSpPr>
        <p:spPr>
          <a:xfrm>
            <a:off x="4279392" y="2971800"/>
            <a:ext cx="384048" cy="384048"/>
          </a:xfrm>
          <a:prstGeom prst="ellipse">
            <a:avLst/>
          </a:prstGeom>
          <a:solidFill>
            <a:srgbClr val="242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noProof="0" dirty="0">
              <a:solidFill>
                <a:schemeClr val="tx1"/>
              </a:solidFill>
            </a:endParaRPr>
          </a:p>
        </p:txBody>
      </p:sp>
      <p:sp>
        <p:nvSpPr>
          <p:cNvPr id="43" name="Oval 42"/>
          <p:cNvSpPr/>
          <p:nvPr/>
        </p:nvSpPr>
        <p:spPr>
          <a:xfrm>
            <a:off x="4279392" y="2971800"/>
            <a:ext cx="384048" cy="384048"/>
          </a:xfrm>
          <a:prstGeom prst="ellipse">
            <a:avLst/>
          </a:prstGeom>
          <a:noFill/>
          <a:ln w="17780">
            <a:solidFill>
              <a:srgbClr val="6F9B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noProof="0" dirty="0">
              <a:solidFill>
                <a:schemeClr val="tx1"/>
              </a:solidFill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4371563" y="3111500"/>
            <a:ext cx="199704" cy="92171"/>
          </a:xfrm>
          <a:prstGeom prst="roundRect">
            <a:avLst>
              <a:gd name="adj" fmla="val 25000"/>
            </a:avLst>
          </a:prstGeom>
          <a:solidFill>
            <a:srgbClr val="6F9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noProof="0" dirty="0">
              <a:solidFill>
                <a:schemeClr val="tx1"/>
              </a:solidFill>
            </a:endParaRPr>
          </a:p>
        </p:txBody>
      </p:sp>
      <p:sp>
        <p:nvSpPr>
          <p:cNvPr id="45" name="Oval 44"/>
          <p:cNvSpPr/>
          <p:nvPr/>
        </p:nvSpPr>
        <p:spPr>
          <a:xfrm>
            <a:off x="4390765" y="3200400"/>
            <a:ext cx="34564" cy="34564"/>
          </a:xfrm>
          <a:prstGeom prst="ellipse">
            <a:avLst/>
          </a:prstGeom>
          <a:solidFill>
            <a:srgbClr val="2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noProof="0" dirty="0">
              <a:solidFill>
                <a:schemeClr val="tx1"/>
              </a:solidFill>
            </a:endParaRPr>
          </a:p>
        </p:txBody>
      </p:sp>
      <p:sp>
        <p:nvSpPr>
          <p:cNvPr id="46" name="Oval 45"/>
          <p:cNvSpPr/>
          <p:nvPr/>
        </p:nvSpPr>
        <p:spPr>
          <a:xfrm>
            <a:off x="4517501" y="3200400"/>
            <a:ext cx="34564" cy="34564"/>
          </a:xfrm>
          <a:prstGeom prst="ellipse">
            <a:avLst/>
          </a:prstGeom>
          <a:solidFill>
            <a:srgbClr val="2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noProof="0" dirty="0">
              <a:solidFill>
                <a:schemeClr val="tx1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754880" y="2971800"/>
            <a:ext cx="3048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100" b="1" i="0" noProof="0" dirty="0">
                <a:latin typeface="Calibri"/>
              </a:rPr>
              <a:t>Regreso cargado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49800" y="3187700"/>
            <a:ext cx="30480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000" b="0" i="0" noProof="0" dirty="0">
                <a:latin typeface="Calibri"/>
              </a:rPr>
              <a:t>La formación regresa directo a Chiriguaná y el ciclo se reinicia de inmediato.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6100" y="6324600"/>
            <a:ext cx="110617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CO" sz="1100" b="0" i="1" noProof="0" dirty="0">
                <a:latin typeface="Calibri"/>
              </a:rPr>
              <a:t>Tonelaje mensual en toneladas — barras oscuras: pico mar–abr 2026; gris: ago-26 mes parcial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01000" y="1320102"/>
            <a:ext cx="37947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200" b="1" i="0" noProof="0" dirty="0">
                <a:latin typeface="Cambria"/>
              </a:rPr>
              <a:t>Lecturas clave</a:t>
            </a:r>
          </a:p>
        </p:txBody>
      </p:sp>
      <p:sp>
        <p:nvSpPr>
          <p:cNvPr id="55" name="Oval 54"/>
          <p:cNvSpPr/>
          <p:nvPr/>
        </p:nvSpPr>
        <p:spPr>
          <a:xfrm>
            <a:off x="8001000" y="1701800"/>
            <a:ext cx="63500" cy="63500"/>
          </a:xfrm>
          <a:prstGeom prst="ellipse">
            <a:avLst/>
          </a:prstGeom>
          <a:solidFill>
            <a:srgbClr val="E0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noProof="0" dirty="0">
              <a:solidFill>
                <a:schemeClr val="tx1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178800" y="1625600"/>
            <a:ext cx="3606800" cy="1688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s-CO" sz="1050" dirty="0">
                <a:latin typeface="Calibri"/>
              </a:rPr>
              <a:t>La concesión reporta el uso de vía (ton-km) de Transferport.</a:t>
            </a:r>
            <a:endParaRPr lang="es-CO" sz="1050" b="0" i="0" noProof="0" dirty="0">
              <a:latin typeface="Calibri"/>
            </a:endParaRPr>
          </a:p>
        </p:txBody>
      </p:sp>
      <p:sp>
        <p:nvSpPr>
          <p:cNvPr id="57" name="Oval 56"/>
          <p:cNvSpPr/>
          <p:nvPr/>
        </p:nvSpPr>
        <p:spPr>
          <a:xfrm>
            <a:off x="8001000" y="2006600"/>
            <a:ext cx="63500" cy="63500"/>
          </a:xfrm>
          <a:prstGeom prst="ellipse">
            <a:avLst/>
          </a:prstGeom>
          <a:solidFill>
            <a:srgbClr val="E0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noProof="0" dirty="0">
              <a:solidFill>
                <a:schemeClr val="tx1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178800" y="1930400"/>
            <a:ext cx="3606800" cy="346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s-CO" sz="1050" dirty="0">
                <a:latin typeface="Calibri"/>
              </a:rPr>
              <a:t>Las maniobras de patio y la operación en vía principal las controlan los jefes de estación de cada cantón.</a:t>
            </a:r>
          </a:p>
        </p:txBody>
      </p:sp>
      <p:sp>
        <p:nvSpPr>
          <p:cNvPr id="59" name="Oval 58"/>
          <p:cNvSpPr/>
          <p:nvPr/>
        </p:nvSpPr>
        <p:spPr>
          <a:xfrm>
            <a:off x="8001000" y="2514600"/>
            <a:ext cx="63500" cy="63500"/>
          </a:xfrm>
          <a:prstGeom prst="ellipse">
            <a:avLst/>
          </a:prstGeom>
          <a:solidFill>
            <a:srgbClr val="E0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noProof="0" dirty="0">
              <a:solidFill>
                <a:schemeClr val="tx1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8178800" y="2438400"/>
            <a:ext cx="3606800" cy="1688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s-CO" sz="1050" b="0" i="0" noProof="0" dirty="0">
                <a:latin typeface="Calibri"/>
              </a:rPr>
              <a:t>Chiriguaná consolida ambos flujos en un solo patio de descargue.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30000" y="6528816"/>
            <a:ext cx="54864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s-CO" sz="850" b="0" i="0" noProof="0" dirty="0">
                <a:latin typeface="Calibri"/>
              </a:rPr>
              <a:t>2</a:t>
            </a:r>
          </a:p>
        </p:txBody>
      </p:sp>
      <p:graphicFrame>
        <p:nvGraphicFramePr>
          <p:cNvPr id="160" name="Chart Mensual"/>
          <p:cNvGraphicFramePr/>
          <p:nvPr/>
        </p:nvGraphicFramePr>
        <p:xfrm>
          <a:off x="546100" y="3733800"/>
          <a:ext cx="11061700" cy="25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1" name="TextBox 59">
            <a:extLst>
              <a:ext uri="{FF2B5EF4-FFF2-40B4-BE49-F238E27FC236}">
                <a16:creationId xmlns:a16="http://schemas.microsoft.com/office/drawing/2014/main" id="{4C251FA4-65AE-BECE-E2DE-5155191CCFE4}"/>
              </a:ext>
            </a:extLst>
          </p:cNvPr>
          <p:cNvSpPr txBox="1"/>
          <p:nvPr/>
        </p:nvSpPr>
        <p:spPr>
          <a:xfrm>
            <a:off x="8178800" y="2743200"/>
            <a:ext cx="3606800" cy="1688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s-CO" sz="1050" dirty="0">
                <a:latin typeface="Calibri"/>
              </a:rPr>
              <a:t>Las locomotoras y las góndolas son propiedad de Transferport.</a:t>
            </a:r>
            <a:endParaRPr lang="es-CO" sz="1050" b="0" i="0" noProof="0" dirty="0">
              <a:latin typeface="Calibri"/>
            </a:endParaRPr>
          </a:p>
        </p:txBody>
      </p:sp>
      <p:sp>
        <p:nvSpPr>
          <p:cNvPr id="61" name="Oval 58">
            <a:extLst>
              <a:ext uri="{FF2B5EF4-FFF2-40B4-BE49-F238E27FC236}">
                <a16:creationId xmlns:a16="http://schemas.microsoft.com/office/drawing/2014/main" id="{832354A0-C49A-98D5-F803-F20BA241C158}"/>
              </a:ext>
            </a:extLst>
          </p:cNvPr>
          <p:cNvSpPr/>
          <p:nvPr/>
        </p:nvSpPr>
        <p:spPr>
          <a:xfrm>
            <a:off x="8001000" y="2819400"/>
            <a:ext cx="63500" cy="63500"/>
          </a:xfrm>
          <a:prstGeom prst="ellipse">
            <a:avLst/>
          </a:prstGeom>
          <a:solidFill>
            <a:srgbClr val="E0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noProof="0" dirty="0">
              <a:solidFill>
                <a:schemeClr val="tx1"/>
              </a:solidFill>
            </a:endParaRPr>
          </a:p>
        </p:txBody>
      </p:sp>
      <p:sp>
        <p:nvSpPr>
          <p:cNvPr id="128" name="TextBox 59">
            <a:extLst>
              <a:ext uri="{FF2B5EF4-FFF2-40B4-BE49-F238E27FC236}">
                <a16:creationId xmlns:a16="http://schemas.microsoft.com/office/drawing/2014/main" id="{9985DB76-FD36-B79B-3DBF-1AA41A0984D6}"/>
              </a:ext>
            </a:extLst>
          </p:cNvPr>
          <p:cNvSpPr txBox="1"/>
          <p:nvPr/>
        </p:nvSpPr>
        <p:spPr>
          <a:xfrm>
            <a:off x="8178800" y="3048000"/>
            <a:ext cx="3606800" cy="1688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s-CO" sz="1050" b="0" i="0" noProof="0" dirty="0">
                <a:latin typeface="Calibri"/>
              </a:rPr>
              <a:t>Los maquinistas son contratados directamente por Transferport.</a:t>
            </a:r>
          </a:p>
        </p:txBody>
      </p:sp>
      <p:sp>
        <p:nvSpPr>
          <p:cNvPr id="130" name="Oval 58">
            <a:extLst>
              <a:ext uri="{FF2B5EF4-FFF2-40B4-BE49-F238E27FC236}">
                <a16:creationId xmlns:a16="http://schemas.microsoft.com/office/drawing/2014/main" id="{2A0FEC00-7A2E-5690-532D-A34C9873BED2}"/>
              </a:ext>
            </a:extLst>
          </p:cNvPr>
          <p:cNvSpPr/>
          <p:nvPr/>
        </p:nvSpPr>
        <p:spPr>
          <a:xfrm>
            <a:off x="8001000" y="3124200"/>
            <a:ext cx="63500" cy="63500"/>
          </a:xfrm>
          <a:prstGeom prst="ellipse">
            <a:avLst/>
          </a:prstGeom>
          <a:solidFill>
            <a:srgbClr val="E0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noProof="0" dirty="0">
              <a:solidFill>
                <a:schemeClr val="tx1"/>
              </a:solidFill>
            </a:endParaRPr>
          </a:p>
        </p:txBody>
      </p:sp>
      <p:sp>
        <p:nvSpPr>
          <p:cNvPr id="129" name="TextBox 59">
            <a:extLst>
              <a:ext uri="{FF2B5EF4-FFF2-40B4-BE49-F238E27FC236}">
                <a16:creationId xmlns:a16="http://schemas.microsoft.com/office/drawing/2014/main" id="{504EE62D-5737-DBF4-C439-E71EB76B294A}"/>
              </a:ext>
            </a:extLst>
          </p:cNvPr>
          <p:cNvSpPr txBox="1"/>
          <p:nvPr/>
        </p:nvSpPr>
        <p:spPr>
          <a:xfrm>
            <a:off x="8188960" y="3289981"/>
            <a:ext cx="3606800" cy="346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s-CO" sz="1050" b="0" i="0" noProof="0" dirty="0">
                <a:latin typeface="Calibri"/>
              </a:rPr>
              <a:t>Los predios aledaños cerca a la vía férrea (Puntos de acopio de carbón) son </a:t>
            </a:r>
            <a:r>
              <a:rPr lang="es-CO" sz="1050" dirty="0">
                <a:latin typeface="Calibri"/>
              </a:rPr>
              <a:t>propiedad de </a:t>
            </a:r>
            <a:r>
              <a:rPr lang="es-CO" sz="1050" b="0" i="0" noProof="0" dirty="0">
                <a:latin typeface="Calibri"/>
              </a:rPr>
              <a:t> Transferport.</a:t>
            </a:r>
          </a:p>
        </p:txBody>
      </p:sp>
      <p:sp>
        <p:nvSpPr>
          <p:cNvPr id="132" name="Oval 58">
            <a:extLst>
              <a:ext uri="{FF2B5EF4-FFF2-40B4-BE49-F238E27FC236}">
                <a16:creationId xmlns:a16="http://schemas.microsoft.com/office/drawing/2014/main" id="{97B2E553-4666-94FF-9EDE-5066F973970B}"/>
              </a:ext>
            </a:extLst>
          </p:cNvPr>
          <p:cNvSpPr/>
          <p:nvPr/>
        </p:nvSpPr>
        <p:spPr>
          <a:xfrm>
            <a:off x="8001000" y="3399766"/>
            <a:ext cx="63500" cy="63500"/>
          </a:xfrm>
          <a:prstGeom prst="ellipse">
            <a:avLst/>
          </a:prstGeom>
          <a:solidFill>
            <a:srgbClr val="E0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600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5109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12" row="1">
    <wetp:webextensionref xmlns:r="http://schemas.openxmlformats.org/officeDocument/2006/relationships" r:id="rId1"/>
  </wetp:taskpane>
  <wetp:taskpane dockstate="right" visibility="0" width="438" row="2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5E56796B-3F76-48D5-9060-16126654DBBD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21b2ac8b-90f8-4cd7-a62e-83237dab3f31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D5D65489-CDDC-4126-8778-2582CF52D142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460b856e-1f5f-460f-baf3-1591dc9ccb1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433</Words>
  <Application>Microsoft Office PowerPoint</Application>
  <PresentationFormat>Panorámica</PresentationFormat>
  <Paragraphs>61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Cambria</vt:lpstr>
      <vt:lpstr>Office Theme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Jony Alexander Florez Ortiz</cp:lastModifiedBy>
  <cp:revision>2</cp:revision>
  <dcterms:created xsi:type="dcterms:W3CDTF">2013-01-27T09:14:16Z</dcterms:created>
  <dcterms:modified xsi:type="dcterms:W3CDTF">2026-08-14T00:54:49Z</dcterms:modified>
  <cp:category/>
</cp:coreProperties>
</file>